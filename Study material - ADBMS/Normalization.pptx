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340" r:id="rId3"/>
    <p:sldId id="341" r:id="rId4"/>
    <p:sldId id="342" r:id="rId5"/>
    <p:sldId id="343" r:id="rId6"/>
    <p:sldId id="344" r:id="rId7"/>
    <p:sldId id="345" r:id="rId8"/>
    <p:sldId id="346" r:id="rId9"/>
    <p:sldId id="347" r:id="rId10"/>
    <p:sldId id="386" r:id="rId11"/>
    <p:sldId id="348" r:id="rId12"/>
    <p:sldId id="349" r:id="rId13"/>
    <p:sldId id="387" r:id="rId14"/>
    <p:sldId id="388" r:id="rId15"/>
    <p:sldId id="389" r:id="rId16"/>
    <p:sldId id="390" r:id="rId17"/>
    <p:sldId id="391" r:id="rId18"/>
    <p:sldId id="392" r:id="rId19"/>
    <p:sldId id="393" r:id="rId20"/>
    <p:sldId id="394" r:id="rId21"/>
    <p:sldId id="395" r:id="rId22"/>
    <p:sldId id="396" r:id="rId23"/>
    <p:sldId id="397" r:id="rId24"/>
    <p:sldId id="398" r:id="rId25"/>
    <p:sldId id="399" r:id="rId26"/>
    <p:sldId id="350" r:id="rId27"/>
    <p:sldId id="351" r:id="rId28"/>
    <p:sldId id="352" r:id="rId29"/>
    <p:sldId id="353" r:id="rId30"/>
    <p:sldId id="354" r:id="rId31"/>
    <p:sldId id="355" r:id="rId32"/>
    <p:sldId id="356" r:id="rId33"/>
    <p:sldId id="357" r:id="rId34"/>
    <p:sldId id="35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5" d="100"/>
          <a:sy n="105" d="100"/>
        </p:scale>
        <p:origin x="7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FBF2D-54AB-493A-A18F-0B304D4794D8}" type="datetimeFigureOut">
              <a:rPr lang="en-IN" smtClean="0"/>
              <a:t>30-08-2026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52E920-9187-4B2F-9683-597DC262D01F}" type="slidenum">
              <a:rPr lang="en-IN" smtClean="0"/>
              <a:t>‹#›</a:t>
            </a:fld>
            <a:endParaRPr lang="en-IN"/>
          </a:p>
        </p:txBody>
      </p:sp>
    </p:spTree>
    <p:extLst>
      <p:ext uri="{BB962C8B-B14F-4D97-AF65-F5344CB8AC3E}">
        <p14:creationId xmlns:p14="http://schemas.microsoft.com/office/powerpoint/2010/main" val="777145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0" name="Google Shape;700;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8" name="Google Shape;718;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5" name="Google Shape;725;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5" name="Google Shape;73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0" name="Google Shape;740;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9" name="Google Shape;749;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6" name="Google Shape;756;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2" name="Google Shape;762;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6877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4" name="Google Shape;774;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2175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4484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33279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062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663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45941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3331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1431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23623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14730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0053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556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1939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0" name="Google Shape;780;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6" name="Google Shape;786;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3" name="Google Shape;803;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9" name="Google Shape;809;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5" name="Google Shape;815;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7" name="Google Shape;827;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5" name="Google Shape;835;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4" name="Google Shape;844;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008CB-FB5B-02F9-1C6E-DE65133E02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C7A610-C7B5-618E-55FB-80BCA41659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35D810-DB93-8F0C-D9E3-9FFE9EF21FC8}"/>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5" name="Footer Placeholder 4">
            <a:extLst>
              <a:ext uri="{FF2B5EF4-FFF2-40B4-BE49-F238E27FC236}">
                <a16:creationId xmlns:a16="http://schemas.microsoft.com/office/drawing/2014/main" id="{8180D8DF-51A8-AFF9-D21A-41CC978C8F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898E87-157A-40EF-0C2E-312A4E8C8DAD}"/>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1396307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DB5C3-A664-C29B-906D-76D8451CE9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C576C9-381C-4E8E-0F7F-42F47F7448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C4F8BD-7962-4455-EA05-149999B9B63D}"/>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5" name="Footer Placeholder 4">
            <a:extLst>
              <a:ext uri="{FF2B5EF4-FFF2-40B4-BE49-F238E27FC236}">
                <a16:creationId xmlns:a16="http://schemas.microsoft.com/office/drawing/2014/main" id="{0741C551-667B-697E-4374-F7E9521A81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80FD52-5766-9AEC-2EDF-5D0846B00EF6}"/>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4292029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1D9E6-8674-BAD2-32F3-0ECD1631BE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21B62DD-7D48-C78A-CF23-C778B30E9C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BD82F9-0A77-FA41-C14B-1A0AC6DB1D04}"/>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5" name="Footer Placeholder 4">
            <a:extLst>
              <a:ext uri="{FF2B5EF4-FFF2-40B4-BE49-F238E27FC236}">
                <a16:creationId xmlns:a16="http://schemas.microsoft.com/office/drawing/2014/main" id="{42286AE3-B110-BB5E-F7C0-3632A34C3D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D8A8B3-3536-4356-A3B1-E442AF48DB68}"/>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3570918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6E682-A724-BF1B-E097-72D9EEFDA1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B0EE6F-B6E5-C8C3-8C64-D17242AC22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460FDD-B610-F314-053F-9D5B1CCF2B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2D250E-0115-FCE2-2FB7-965823470C56}"/>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6" name="Footer Placeholder 5">
            <a:extLst>
              <a:ext uri="{FF2B5EF4-FFF2-40B4-BE49-F238E27FC236}">
                <a16:creationId xmlns:a16="http://schemas.microsoft.com/office/drawing/2014/main" id="{BC59C4F0-9F97-5C8D-91EC-9CFCBB529F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A845D1-B6D0-01DE-1628-EE596B4F4CCD}"/>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4106303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AA291-B213-2E40-3BCE-B1FC5EEBD2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88AF6F-C652-3B8A-0628-65BE3E5641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3DD1D7-D33D-A840-9BB7-DA58D90701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13087B-D9A2-7580-C03A-114884331B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D4E9B7-DD25-36B8-30AD-42C73094E5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D44B85-2687-FC69-E5F0-47FA94EB8591}"/>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8" name="Footer Placeholder 7">
            <a:extLst>
              <a:ext uri="{FF2B5EF4-FFF2-40B4-BE49-F238E27FC236}">
                <a16:creationId xmlns:a16="http://schemas.microsoft.com/office/drawing/2014/main" id="{65CC4720-9B97-88C7-E58B-D34662F7E5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4C093E-4272-2658-3134-FA66F9CD4111}"/>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485822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13C91-9113-B591-59B8-6A66F28688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1955D9A-EA82-7643-FC9C-0A388996EE54}"/>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4" name="Footer Placeholder 3">
            <a:extLst>
              <a:ext uri="{FF2B5EF4-FFF2-40B4-BE49-F238E27FC236}">
                <a16:creationId xmlns:a16="http://schemas.microsoft.com/office/drawing/2014/main" id="{A6E3E12E-DF21-86D0-58D6-FA25F4FB31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080FC60-8E8C-F2AA-316A-D02EC9F6E071}"/>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116062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7F6798-AC9D-0BDD-F6D5-7B38FC9B2705}"/>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3" name="Footer Placeholder 2">
            <a:extLst>
              <a:ext uri="{FF2B5EF4-FFF2-40B4-BE49-F238E27FC236}">
                <a16:creationId xmlns:a16="http://schemas.microsoft.com/office/drawing/2014/main" id="{CD7E2313-1A5A-9642-521B-FE4BCBA8C1F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F322FFE-0C04-40F9-4241-981494F8AF8E}"/>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1324366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8D8EE-9A3E-361E-4746-C154FD0351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332B8D-A168-B126-1FF4-2A65635AFD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F3AE3A-D751-D109-60CA-D635629A58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8E9904-4050-A974-260C-FBD64769AEE9}"/>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6" name="Footer Placeholder 5">
            <a:extLst>
              <a:ext uri="{FF2B5EF4-FFF2-40B4-BE49-F238E27FC236}">
                <a16:creationId xmlns:a16="http://schemas.microsoft.com/office/drawing/2014/main" id="{B0A97AFA-284B-B92C-ACB1-36D1690814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03B7DB-ED6A-702C-0993-9E8AAA2E1BE9}"/>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3914077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91242-3DD9-FF58-1990-A560B7C3AE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7745CEA-1DC2-FBF0-13EF-19AD712124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C5EDA7B-916D-6DD6-77B6-CAA0C32F4C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8DA3C-98E7-E087-6559-864AE7C0E8A0}"/>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6" name="Footer Placeholder 5">
            <a:extLst>
              <a:ext uri="{FF2B5EF4-FFF2-40B4-BE49-F238E27FC236}">
                <a16:creationId xmlns:a16="http://schemas.microsoft.com/office/drawing/2014/main" id="{97BE9D4C-9B31-CDD4-17DA-B826AFADE5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D2E117-42BE-237F-71C5-9442DCC36CA7}"/>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4172225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7A4CA-E508-1845-D9FF-8600E5A544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93A30B-DAE5-6DC0-A2E3-935A18A50F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E2F1BE-8703-8B7F-EBC6-ACD439740CB0}"/>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5" name="Footer Placeholder 4">
            <a:extLst>
              <a:ext uri="{FF2B5EF4-FFF2-40B4-BE49-F238E27FC236}">
                <a16:creationId xmlns:a16="http://schemas.microsoft.com/office/drawing/2014/main" id="{8D1E4AAA-A1D4-F21A-7E06-4CA647D7A9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26DCD9-6643-E8D5-D44C-D71D524789D8}"/>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1652579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8120D0-3014-AFF4-8B71-701A61E9F4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FC98D7-F8C3-E1AF-54B4-19138C35CB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E778A6-A9C1-C6CD-6AA6-00B13A560B0D}"/>
              </a:ext>
            </a:extLst>
          </p:cNvPr>
          <p:cNvSpPr>
            <a:spLocks noGrp="1"/>
          </p:cNvSpPr>
          <p:nvPr>
            <p:ph type="dt" sz="half" idx="10"/>
          </p:nvPr>
        </p:nvSpPr>
        <p:spPr/>
        <p:txBody>
          <a:bodyPr/>
          <a:lstStyle/>
          <a:p>
            <a:fld id="{206C14ED-02A4-4B80-A1F2-C782F8EC2ADB}" type="datetimeFigureOut">
              <a:rPr lang="en-IN" smtClean="0"/>
              <a:t>30-08-2026</a:t>
            </a:fld>
            <a:endParaRPr lang="en-IN"/>
          </a:p>
        </p:txBody>
      </p:sp>
      <p:sp>
        <p:nvSpPr>
          <p:cNvPr id="5" name="Footer Placeholder 4">
            <a:extLst>
              <a:ext uri="{FF2B5EF4-FFF2-40B4-BE49-F238E27FC236}">
                <a16:creationId xmlns:a16="http://schemas.microsoft.com/office/drawing/2014/main" id="{C4A93F43-1744-18A7-4261-CE110B6F27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864237-25F4-D211-05CE-6F7E00F5E5C4}"/>
              </a:ext>
            </a:extLst>
          </p:cNvPr>
          <p:cNvSpPr>
            <a:spLocks noGrp="1"/>
          </p:cNvSpPr>
          <p:nvPr>
            <p:ph type="sldNum" sz="quarter" idx="12"/>
          </p:nvPr>
        </p:nvSpPr>
        <p:spPr/>
        <p:txBody>
          <a:bodyPr/>
          <a:lstStyle/>
          <a:p>
            <a:fld id="{6900F6A1-D01C-4280-BA08-A3C747CE2CC8}" type="slidenum">
              <a:rPr lang="en-IN" smtClean="0"/>
              <a:t>‹#›</a:t>
            </a:fld>
            <a:endParaRPr lang="en-IN"/>
          </a:p>
        </p:txBody>
      </p:sp>
    </p:spTree>
    <p:extLst>
      <p:ext uri="{BB962C8B-B14F-4D97-AF65-F5344CB8AC3E}">
        <p14:creationId xmlns:p14="http://schemas.microsoft.com/office/powerpoint/2010/main" val="3023263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31B138-6C9A-AC71-AD43-37731C1A21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509919-DC9A-65F3-931E-20646DB300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15E8B4-FA4F-18B5-9EB9-269B8AB922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6C14ED-02A4-4B80-A1F2-C782F8EC2ADB}" type="datetimeFigureOut">
              <a:rPr lang="en-IN" smtClean="0"/>
              <a:t>30-08-2026</a:t>
            </a:fld>
            <a:endParaRPr lang="en-IN"/>
          </a:p>
        </p:txBody>
      </p:sp>
      <p:sp>
        <p:nvSpPr>
          <p:cNvPr id="5" name="Footer Placeholder 4">
            <a:extLst>
              <a:ext uri="{FF2B5EF4-FFF2-40B4-BE49-F238E27FC236}">
                <a16:creationId xmlns:a16="http://schemas.microsoft.com/office/drawing/2014/main" id="{6D11043B-43D0-0BAA-7E3D-D6FCE54FAF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7D7572C-100B-2A20-BFB2-7EAC59DC05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00F6A1-D01C-4280-BA08-A3C747CE2CC8}" type="slidenum">
              <a:rPr lang="en-IN" smtClean="0"/>
              <a:t>‹#›</a:t>
            </a:fld>
            <a:endParaRPr lang="en-IN"/>
          </a:p>
        </p:txBody>
      </p:sp>
      <p:pic>
        <p:nvPicPr>
          <p:cNvPr id="8" name="Picture 7">
            <a:extLst>
              <a:ext uri="{FF2B5EF4-FFF2-40B4-BE49-F238E27FC236}">
                <a16:creationId xmlns:a16="http://schemas.microsoft.com/office/drawing/2014/main" id="{C961663D-6A63-18E6-521F-6CDD308AF570}"/>
              </a:ext>
            </a:extLst>
          </p:cNvPr>
          <p:cNvPicPr>
            <a:picLocks noChangeAspect="1"/>
          </p:cNvPicPr>
          <p:nvPr userDrawn="1"/>
        </p:nvPicPr>
        <p:blipFill>
          <a:blip r:embed="rId13"/>
          <a:stretch>
            <a:fillRect/>
          </a:stretch>
        </p:blipFill>
        <p:spPr>
          <a:xfrm>
            <a:off x="77638" y="25266"/>
            <a:ext cx="11904453" cy="500332"/>
          </a:xfrm>
          <a:prstGeom prst="rect">
            <a:avLst/>
          </a:prstGeom>
        </p:spPr>
      </p:pic>
    </p:spTree>
    <p:extLst>
      <p:ext uri="{BB962C8B-B14F-4D97-AF65-F5344CB8AC3E}">
        <p14:creationId xmlns:p14="http://schemas.microsoft.com/office/powerpoint/2010/main" val="1592778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2746D-20DE-109E-D7F4-9E22E8006F8B}"/>
              </a:ext>
            </a:extLst>
          </p:cNvPr>
          <p:cNvSpPr>
            <a:spLocks noGrp="1"/>
          </p:cNvSpPr>
          <p:nvPr>
            <p:ph type="ctrTitle"/>
          </p:nvPr>
        </p:nvSpPr>
        <p:spPr/>
        <p:txBody>
          <a:bodyPr/>
          <a:lstStyle/>
          <a:p>
            <a:r>
              <a:rPr lang="en-US" dirty="0"/>
              <a:t>Database Normalization</a:t>
            </a:r>
            <a:endParaRPr lang="en-IN" dirty="0"/>
          </a:p>
        </p:txBody>
      </p:sp>
      <p:sp>
        <p:nvSpPr>
          <p:cNvPr id="3" name="Subtitle 2">
            <a:extLst>
              <a:ext uri="{FF2B5EF4-FFF2-40B4-BE49-F238E27FC236}">
                <a16:creationId xmlns:a16="http://schemas.microsoft.com/office/drawing/2014/main" id="{8708845B-C5F2-4588-14F5-702EEEBFF987}"/>
              </a:ext>
            </a:extLst>
          </p:cNvPr>
          <p:cNvSpPr>
            <a:spLocks noGrp="1"/>
          </p:cNvSpPr>
          <p:nvPr>
            <p:ph type="subTitle" idx="1"/>
          </p:nvPr>
        </p:nvSpPr>
        <p:spPr/>
        <p:txBody>
          <a:bodyPr/>
          <a:lstStyle/>
          <a:p>
            <a:r>
              <a:rPr lang="en-US" dirty="0"/>
              <a:t>Exclusive Content </a:t>
            </a:r>
            <a:br>
              <a:rPr lang="en-US" dirty="0"/>
            </a:br>
            <a:r>
              <a:rPr lang="en-US" dirty="0"/>
              <a:t>(GATE/NET Short Tips &amp; Tricks)</a:t>
            </a:r>
            <a:endParaRPr lang="en-IN" dirty="0"/>
          </a:p>
        </p:txBody>
      </p:sp>
    </p:spTree>
    <p:extLst>
      <p:ext uri="{BB962C8B-B14F-4D97-AF65-F5344CB8AC3E}">
        <p14:creationId xmlns:p14="http://schemas.microsoft.com/office/powerpoint/2010/main" val="3008513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75"/>
          <p:cNvSpPr txBox="1">
            <a:spLocks noGrp="1"/>
          </p:cNvSpPr>
          <p:nvPr>
            <p:ph type="title"/>
          </p:nvPr>
        </p:nvSpPr>
        <p:spPr>
          <a:xfrm>
            <a:off x="838200" y="365126"/>
            <a:ext cx="10515600" cy="9460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400"/>
              <a:buFont typeface="Times New Roman"/>
              <a:buNone/>
            </a:pPr>
            <a:r>
              <a:rPr lang="en-US" sz="3400" b="1">
                <a:latin typeface="Times New Roman"/>
                <a:ea typeface="Times New Roman"/>
                <a:cs typeface="Times New Roman"/>
                <a:sym typeface="Times New Roman"/>
              </a:rPr>
              <a:t>Functional Dependency</a:t>
            </a:r>
            <a:endParaRPr sz="3400" b="1">
              <a:latin typeface="Times New Roman"/>
              <a:ea typeface="Times New Roman"/>
              <a:cs typeface="Times New Roman"/>
              <a:sym typeface="Times New Roman"/>
            </a:endParaRPr>
          </a:p>
        </p:txBody>
      </p:sp>
      <p:pic>
        <p:nvPicPr>
          <p:cNvPr id="703" name="Google Shape;703;p75"/>
          <p:cNvPicPr preferRelativeResize="0"/>
          <p:nvPr/>
        </p:nvPicPr>
        <p:blipFill rotWithShape="1">
          <a:blip r:embed="rId3">
            <a:alphaModFix/>
          </a:blip>
          <a:srcRect/>
          <a:stretch/>
        </p:blipFill>
        <p:spPr>
          <a:xfrm>
            <a:off x="3594502" y="1311217"/>
            <a:ext cx="4105848" cy="1147312"/>
          </a:xfrm>
          <a:prstGeom prst="rect">
            <a:avLst/>
          </a:prstGeom>
          <a:noFill/>
          <a:ln>
            <a:noFill/>
          </a:ln>
        </p:spPr>
      </p:pic>
      <p:sp>
        <p:nvSpPr>
          <p:cNvPr id="704" name="Google Shape;704;p75"/>
          <p:cNvSpPr txBox="1"/>
          <p:nvPr/>
        </p:nvSpPr>
        <p:spPr>
          <a:xfrm>
            <a:off x="2277374" y="2458529"/>
            <a:ext cx="74014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dirty="0">
                <a:solidFill>
                  <a:schemeClr val="dk1"/>
                </a:solidFill>
                <a:latin typeface="Calibri"/>
                <a:ea typeface="Calibri"/>
                <a:cs typeface="Calibri"/>
                <a:sym typeface="Calibri"/>
              </a:rPr>
              <a:t>If we know the value of </a:t>
            </a:r>
            <a:r>
              <a:rPr lang="en-US" sz="1800" b="1" i="0" dirty="0">
                <a:solidFill>
                  <a:srgbClr val="202124"/>
                </a:solidFill>
                <a:highlight>
                  <a:srgbClr val="FFFFFF"/>
                </a:highlight>
                <a:latin typeface="Arial"/>
                <a:ea typeface="Arial"/>
                <a:cs typeface="Arial"/>
                <a:sym typeface="Arial"/>
              </a:rPr>
              <a:t>α</a:t>
            </a:r>
            <a:r>
              <a:rPr lang="en-US" sz="1800" i="1" dirty="0">
                <a:solidFill>
                  <a:schemeClr val="dk1"/>
                </a:solidFill>
                <a:latin typeface="Calibri"/>
                <a:ea typeface="Calibri"/>
                <a:cs typeface="Calibri"/>
                <a:sym typeface="Calibri"/>
              </a:rPr>
              <a:t>, we can get the value of </a:t>
            </a:r>
            <a:r>
              <a:rPr lang="en-US" sz="1800" b="1" i="0" dirty="0">
                <a:solidFill>
                  <a:srgbClr val="202124"/>
                </a:solidFill>
                <a:highlight>
                  <a:srgbClr val="FFFFFF"/>
                </a:highlight>
                <a:latin typeface="Arial"/>
                <a:ea typeface="Arial"/>
                <a:cs typeface="Arial"/>
                <a:sym typeface="Arial"/>
              </a:rPr>
              <a:t>β</a:t>
            </a:r>
            <a:r>
              <a:rPr lang="en-US" sz="1800" i="1" dirty="0">
                <a:solidFill>
                  <a:schemeClr val="dk1"/>
                </a:solidFill>
                <a:latin typeface="Calibri"/>
                <a:ea typeface="Calibri"/>
                <a:cs typeface="Calibri"/>
                <a:sym typeface="Calibri"/>
              </a:rPr>
              <a:t> from the relation.</a:t>
            </a:r>
            <a:endParaRPr sz="1800" i="1" dirty="0">
              <a:solidFill>
                <a:schemeClr val="dk1"/>
              </a:solidFill>
              <a:latin typeface="Calibri"/>
              <a:ea typeface="Calibri"/>
              <a:cs typeface="Calibri"/>
              <a:sym typeface="Calibri"/>
            </a:endParaRPr>
          </a:p>
        </p:txBody>
      </p:sp>
      <p:graphicFrame>
        <p:nvGraphicFramePr>
          <p:cNvPr id="705" name="Google Shape;705;p75"/>
          <p:cNvGraphicFramePr/>
          <p:nvPr/>
        </p:nvGraphicFramePr>
        <p:xfrm>
          <a:off x="1242200" y="3752491"/>
          <a:ext cx="1578650" cy="1849170"/>
        </p:xfrm>
        <a:graphic>
          <a:graphicData uri="http://schemas.openxmlformats.org/drawingml/2006/table">
            <a:tbl>
              <a:tblPr firstRow="1" bandRow="1">
                <a:noFill/>
              </a:tblPr>
              <a:tblGrid>
                <a:gridCol w="789325">
                  <a:extLst>
                    <a:ext uri="{9D8B030D-6E8A-4147-A177-3AD203B41FA5}">
                      <a16:colId xmlns:a16="http://schemas.microsoft.com/office/drawing/2014/main" val="20000"/>
                    </a:ext>
                  </a:extLst>
                </a:gridCol>
                <a:gridCol w="789325">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None/>
                      </a:pPr>
                      <a:r>
                        <a:rPr lang="en-US" sz="1800" b="1" i="0">
                          <a:solidFill>
                            <a:schemeClr val="lt1"/>
                          </a:solidFill>
                          <a:latin typeface="Calibri"/>
                          <a:ea typeface="Calibri"/>
                          <a:cs typeface="Calibri"/>
                          <a:sym typeface="Calibri"/>
                        </a:rPr>
                        <a:t>α</a:t>
                      </a:r>
                      <a:endParaRPr sz="1800"/>
                    </a:p>
                  </a:txBody>
                  <a:tcPr marL="91450" marR="91450" marT="45725" marB="45725"/>
                </a:tc>
                <a:tc>
                  <a:txBody>
                    <a:bodyPr/>
                    <a:lstStyle/>
                    <a:p>
                      <a:pPr marL="0" marR="0" lvl="0" indent="0" algn="l" rtl="0">
                        <a:spcBef>
                          <a:spcPts val="0"/>
                        </a:spcBef>
                        <a:spcAft>
                          <a:spcPts val="0"/>
                        </a:spcAft>
                        <a:buNone/>
                      </a:pPr>
                      <a:r>
                        <a:rPr lang="en-US" sz="1800" b="1" i="0">
                          <a:solidFill>
                            <a:schemeClr val="lt1"/>
                          </a:solidFill>
                          <a:latin typeface="Calibri"/>
                          <a:ea typeface="Calibri"/>
                          <a:cs typeface="Calibri"/>
                          <a:sym typeface="Calibri"/>
                        </a:rPr>
                        <a:t>β</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dirty="0"/>
                        <a:t>a</a:t>
                      </a:r>
                      <a:endParaRPr sz="1800" dirty="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dirty="0"/>
                        <a:t>4</a:t>
                      </a:r>
                      <a:endParaRPr sz="1800" dirty="0"/>
                    </a:p>
                  </a:txBody>
                  <a:tcPr marL="91450" marR="91450" marT="45725" marB="45725"/>
                </a:tc>
                <a:extLst>
                  <a:ext uri="{0D108BD9-81ED-4DB2-BD59-A6C34878D82A}">
                    <a16:rowId xmlns:a16="http://schemas.microsoft.com/office/drawing/2014/main" val="10004"/>
                  </a:ext>
                </a:extLst>
              </a:tr>
            </a:tbl>
          </a:graphicData>
        </a:graphic>
      </p:graphicFrame>
      <p:sp>
        <p:nvSpPr>
          <p:cNvPr id="706" name="Google Shape;706;p75"/>
          <p:cNvSpPr txBox="1"/>
          <p:nvPr/>
        </p:nvSpPr>
        <p:spPr>
          <a:xfrm>
            <a:off x="3295291" y="3752491"/>
            <a:ext cx="1837426"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For each value of </a:t>
            </a:r>
            <a:r>
              <a:rPr lang="en-US" sz="1800" b="1" i="0" dirty="0">
                <a:solidFill>
                  <a:srgbClr val="202124"/>
                </a:solidFill>
                <a:highlight>
                  <a:srgbClr val="FFFFFF"/>
                </a:highlight>
                <a:latin typeface="Arial"/>
                <a:ea typeface="Arial"/>
                <a:cs typeface="Arial"/>
                <a:sym typeface="Arial"/>
              </a:rPr>
              <a:t>α </a:t>
            </a:r>
            <a:r>
              <a:rPr lang="en-US" sz="1800" i="0" dirty="0">
                <a:solidFill>
                  <a:srgbClr val="202124"/>
                </a:solidFill>
                <a:highlight>
                  <a:srgbClr val="FFFFFF"/>
                </a:highlight>
                <a:latin typeface="Arial"/>
                <a:ea typeface="Arial"/>
                <a:cs typeface="Arial"/>
                <a:sym typeface="Arial"/>
              </a:rPr>
              <a:t>we should hav</a:t>
            </a:r>
            <a:r>
              <a:rPr lang="en-US" sz="1800" dirty="0">
                <a:solidFill>
                  <a:srgbClr val="202124"/>
                </a:solidFill>
                <a:highlight>
                  <a:srgbClr val="FFFFFF"/>
                </a:highlight>
                <a:latin typeface="Arial"/>
                <a:ea typeface="Arial"/>
                <a:cs typeface="Arial"/>
                <a:sym typeface="Arial"/>
              </a:rPr>
              <a:t>e same value of</a:t>
            </a:r>
            <a:r>
              <a:rPr lang="en-US" sz="1800" i="0" dirty="0">
                <a:solidFill>
                  <a:srgbClr val="202124"/>
                </a:solidFill>
                <a:highlight>
                  <a:srgbClr val="FFFFFF"/>
                </a:highlight>
                <a:latin typeface="Arial"/>
                <a:ea typeface="Arial"/>
                <a:cs typeface="Arial"/>
                <a:sym typeface="Arial"/>
              </a:rPr>
              <a:t> </a:t>
            </a:r>
            <a:r>
              <a:rPr lang="en-US" sz="1800" b="1" i="0" dirty="0">
                <a:solidFill>
                  <a:srgbClr val="202124"/>
                </a:solidFill>
                <a:highlight>
                  <a:srgbClr val="FFFFFF"/>
                </a:highlight>
                <a:latin typeface="Arial"/>
                <a:ea typeface="Arial"/>
                <a:cs typeface="Arial"/>
                <a:sym typeface="Arial"/>
              </a:rPr>
              <a:t>β.</a:t>
            </a:r>
            <a:endParaRPr sz="1800" b="1" i="0" dirty="0">
              <a:solidFill>
                <a:srgbClr val="202124"/>
              </a:solidFill>
              <a:highlight>
                <a:srgbClr val="FFFFFF"/>
              </a:highlight>
              <a:latin typeface="Arial"/>
              <a:ea typeface="Arial"/>
              <a:cs typeface="Arial"/>
              <a:sym typeface="Arial"/>
            </a:endParaRPr>
          </a:p>
        </p:txBody>
      </p:sp>
      <p:graphicFrame>
        <p:nvGraphicFramePr>
          <p:cNvPr id="707" name="Google Shape;707;p75"/>
          <p:cNvGraphicFramePr/>
          <p:nvPr/>
        </p:nvGraphicFramePr>
        <p:xfrm>
          <a:off x="6717098" y="3726612"/>
          <a:ext cx="1578650" cy="1849170"/>
        </p:xfrm>
        <a:graphic>
          <a:graphicData uri="http://schemas.openxmlformats.org/drawingml/2006/table">
            <a:tbl>
              <a:tblPr firstRow="1" bandRow="1">
                <a:noFill/>
              </a:tblPr>
              <a:tblGrid>
                <a:gridCol w="789325">
                  <a:extLst>
                    <a:ext uri="{9D8B030D-6E8A-4147-A177-3AD203B41FA5}">
                      <a16:colId xmlns:a16="http://schemas.microsoft.com/office/drawing/2014/main" val="20000"/>
                    </a:ext>
                  </a:extLst>
                </a:gridCol>
                <a:gridCol w="789325">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None/>
                      </a:pPr>
                      <a:r>
                        <a:rPr lang="en-US" sz="1800" b="1" i="0">
                          <a:solidFill>
                            <a:schemeClr val="lt1"/>
                          </a:solidFill>
                          <a:latin typeface="Calibri"/>
                          <a:ea typeface="Calibri"/>
                          <a:cs typeface="Calibri"/>
                          <a:sym typeface="Calibri"/>
                        </a:rPr>
                        <a:t>α</a:t>
                      </a:r>
                      <a:endParaRPr sz="1800"/>
                    </a:p>
                  </a:txBody>
                  <a:tcPr marL="91450" marR="91450" marT="45725" marB="45725"/>
                </a:tc>
                <a:tc>
                  <a:txBody>
                    <a:bodyPr/>
                    <a:lstStyle/>
                    <a:p>
                      <a:pPr marL="0" marR="0" lvl="0" indent="0" algn="l" rtl="0">
                        <a:spcBef>
                          <a:spcPts val="0"/>
                        </a:spcBef>
                        <a:spcAft>
                          <a:spcPts val="0"/>
                        </a:spcAft>
                        <a:buNone/>
                      </a:pPr>
                      <a:r>
                        <a:rPr lang="en-US" sz="1800" b="1" i="0">
                          <a:solidFill>
                            <a:schemeClr val="lt1"/>
                          </a:solidFill>
                          <a:latin typeface="Calibri"/>
                          <a:ea typeface="Calibri"/>
                          <a:cs typeface="Calibri"/>
                          <a:sym typeface="Calibri"/>
                        </a:rPr>
                        <a:t>β</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extLst>
                  <a:ext uri="{0D108BD9-81ED-4DB2-BD59-A6C34878D82A}">
                    <a16:rowId xmlns:a16="http://schemas.microsoft.com/office/drawing/2014/main" val="10004"/>
                  </a:ext>
                </a:extLst>
              </a:tr>
            </a:tbl>
          </a:graphicData>
        </a:graphic>
      </p:graphicFrame>
      <p:sp>
        <p:nvSpPr>
          <p:cNvPr id="708" name="Google Shape;708;p75"/>
          <p:cNvSpPr/>
          <p:nvPr/>
        </p:nvSpPr>
        <p:spPr>
          <a:xfrm>
            <a:off x="6504317" y="4088921"/>
            <a:ext cx="1923691" cy="715992"/>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709" name="Google Shape;709;p75"/>
          <p:cNvSpPr txBox="1"/>
          <p:nvPr/>
        </p:nvSpPr>
        <p:spPr>
          <a:xfrm>
            <a:off x="9028977" y="3880283"/>
            <a:ext cx="1837426"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Here in this case, on same value of </a:t>
            </a:r>
            <a:r>
              <a:rPr lang="en-US" sz="1800" b="1" i="0">
                <a:solidFill>
                  <a:srgbClr val="202124"/>
                </a:solidFill>
                <a:highlight>
                  <a:srgbClr val="FFFFFF"/>
                </a:highlight>
                <a:latin typeface="Arial"/>
                <a:ea typeface="Arial"/>
                <a:cs typeface="Arial"/>
                <a:sym typeface="Arial"/>
              </a:rPr>
              <a:t>α </a:t>
            </a:r>
            <a:r>
              <a:rPr lang="en-US" sz="1800" i="0">
                <a:solidFill>
                  <a:srgbClr val="202124"/>
                </a:solidFill>
                <a:highlight>
                  <a:srgbClr val="FFFFFF"/>
                </a:highlight>
                <a:latin typeface="Arial"/>
                <a:ea typeface="Arial"/>
                <a:cs typeface="Arial"/>
                <a:sym typeface="Arial"/>
              </a:rPr>
              <a:t>we have different value of </a:t>
            </a:r>
            <a:r>
              <a:rPr lang="en-US" sz="1800" b="1" i="0">
                <a:solidFill>
                  <a:srgbClr val="202124"/>
                </a:solidFill>
                <a:highlight>
                  <a:srgbClr val="FFFFFF"/>
                </a:highlight>
                <a:latin typeface="Arial"/>
                <a:ea typeface="Arial"/>
                <a:cs typeface="Arial"/>
                <a:sym typeface="Arial"/>
              </a:rPr>
              <a:t>β.</a:t>
            </a:r>
            <a:r>
              <a:rPr lang="en-US" sz="1800" i="0">
                <a:solidFill>
                  <a:srgbClr val="202124"/>
                </a:solidFill>
                <a:highlight>
                  <a:srgbClr val="FFFFFF"/>
                </a:highlight>
                <a:latin typeface="Arial"/>
                <a:ea typeface="Arial"/>
                <a:cs typeface="Arial"/>
                <a:sym typeface="Arial"/>
              </a:rPr>
              <a:t> </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710" name="Google Shape;710;p75"/>
          <p:cNvSpPr/>
          <p:nvPr/>
        </p:nvSpPr>
        <p:spPr>
          <a:xfrm>
            <a:off x="7384211" y="5785614"/>
            <a:ext cx="398251" cy="560717"/>
          </a:xfrm>
          <a:prstGeom prst="mathMultiply">
            <a:avLst>
              <a:gd name="adj1" fmla="val 23520"/>
            </a:avLst>
          </a:prstGeom>
          <a:solidFill>
            <a:srgbClr val="FF0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1" name="Google Shape;711;p75"/>
          <p:cNvSpPr/>
          <p:nvPr/>
        </p:nvSpPr>
        <p:spPr>
          <a:xfrm rot="-2839573">
            <a:off x="1810133" y="5934030"/>
            <a:ext cx="577126" cy="218793"/>
          </a:xfrm>
          <a:prstGeom prst="corner">
            <a:avLst>
              <a:gd name="adj1" fmla="val 50000"/>
              <a:gd name="adj2" fmla="val 50000"/>
            </a:avLst>
          </a:prstGeom>
          <a:solidFill>
            <a:schemeClr val="accent6"/>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2" name="Google Shape;712;p75"/>
          <p:cNvSpPr txBox="1"/>
          <p:nvPr/>
        </p:nvSpPr>
        <p:spPr>
          <a:xfrm>
            <a:off x="405442" y="4149306"/>
            <a:ext cx="6714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t1 -&gt;</a:t>
            </a:r>
            <a:endParaRPr sz="1800">
              <a:solidFill>
                <a:schemeClr val="dk1"/>
              </a:solidFill>
              <a:latin typeface="Calibri"/>
              <a:ea typeface="Calibri"/>
              <a:cs typeface="Calibri"/>
              <a:sym typeface="Calibri"/>
            </a:endParaRPr>
          </a:p>
        </p:txBody>
      </p:sp>
      <p:sp>
        <p:nvSpPr>
          <p:cNvPr id="713" name="Google Shape;713;p75"/>
          <p:cNvSpPr txBox="1"/>
          <p:nvPr/>
        </p:nvSpPr>
        <p:spPr>
          <a:xfrm>
            <a:off x="405442" y="4466506"/>
            <a:ext cx="6714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t2 -&gt;</a:t>
            </a:r>
            <a:endParaRPr sz="1800">
              <a:solidFill>
                <a:schemeClr val="dk1"/>
              </a:solidFill>
              <a:latin typeface="Calibri"/>
              <a:ea typeface="Calibri"/>
              <a:cs typeface="Calibri"/>
              <a:sym typeface="Calibri"/>
            </a:endParaRPr>
          </a:p>
        </p:txBody>
      </p:sp>
      <p:sp>
        <p:nvSpPr>
          <p:cNvPr id="714" name="Google Shape;714;p75"/>
          <p:cNvSpPr txBox="1"/>
          <p:nvPr/>
        </p:nvSpPr>
        <p:spPr>
          <a:xfrm>
            <a:off x="405442" y="5244720"/>
            <a:ext cx="6714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tn -&gt;</a:t>
            </a:r>
            <a:endParaRPr sz="1800">
              <a:solidFill>
                <a:schemeClr val="dk1"/>
              </a:solidFill>
              <a:latin typeface="Calibri"/>
              <a:ea typeface="Calibri"/>
              <a:cs typeface="Calibri"/>
              <a:sym typeface="Calibri"/>
            </a:endParaRPr>
          </a:p>
        </p:txBody>
      </p:sp>
      <p:sp>
        <p:nvSpPr>
          <p:cNvPr id="715" name="Google Shape;715;p75"/>
          <p:cNvSpPr txBox="1"/>
          <p:nvPr/>
        </p:nvSpPr>
        <p:spPr>
          <a:xfrm>
            <a:off x="3295291" y="4946618"/>
            <a:ext cx="1837426"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t1[</a:t>
            </a:r>
            <a:r>
              <a:rPr lang="en-US" sz="1800" b="1" i="0">
                <a:solidFill>
                  <a:srgbClr val="202124"/>
                </a:solidFill>
                <a:highlight>
                  <a:srgbClr val="FFFFFF"/>
                </a:highlight>
                <a:latin typeface="Arial"/>
                <a:ea typeface="Arial"/>
                <a:cs typeface="Arial"/>
                <a:sym typeface="Arial"/>
              </a:rPr>
              <a:t>α</a:t>
            </a:r>
            <a:r>
              <a:rPr lang="en-US" sz="1800">
                <a:solidFill>
                  <a:schemeClr val="dk1"/>
                </a:solidFill>
                <a:latin typeface="Calibri"/>
                <a:ea typeface="Calibri"/>
                <a:cs typeface="Calibri"/>
                <a:sym typeface="Calibri"/>
              </a:rPr>
              <a:t>] = t2[</a:t>
            </a:r>
            <a:r>
              <a:rPr lang="en-US" sz="1800" b="1" i="0">
                <a:solidFill>
                  <a:srgbClr val="202124"/>
                </a:solidFill>
                <a:highlight>
                  <a:srgbClr val="FFFFFF"/>
                </a:highlight>
                <a:latin typeface="Arial"/>
                <a:ea typeface="Arial"/>
                <a:cs typeface="Arial"/>
                <a:sym typeface="Arial"/>
              </a:rPr>
              <a:t>α</a:t>
            </a:r>
            <a:r>
              <a:rPr lang="en-US" sz="1800">
                <a:solidFill>
                  <a:schemeClr val="dk1"/>
                </a:solidFill>
                <a:latin typeface="Calibri"/>
                <a:ea typeface="Calibri"/>
                <a:cs typeface="Calibri"/>
                <a:sym typeface="Calibri"/>
              </a:rPr>
              <a:t>]</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then</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t1[</a:t>
            </a:r>
            <a:r>
              <a:rPr lang="en-US" sz="1800" b="1" i="0">
                <a:solidFill>
                  <a:srgbClr val="202124"/>
                </a:solidFill>
                <a:highlight>
                  <a:srgbClr val="FFFFFF"/>
                </a:highlight>
                <a:latin typeface="Arial"/>
                <a:ea typeface="Arial"/>
                <a:cs typeface="Arial"/>
                <a:sym typeface="Arial"/>
              </a:rPr>
              <a:t>β</a:t>
            </a:r>
            <a:r>
              <a:rPr lang="en-US" sz="1800">
                <a:solidFill>
                  <a:schemeClr val="dk1"/>
                </a:solidFill>
                <a:latin typeface="Calibri"/>
                <a:ea typeface="Calibri"/>
                <a:cs typeface="Calibri"/>
                <a:sym typeface="Calibri"/>
              </a:rPr>
              <a:t>] = t2[</a:t>
            </a:r>
            <a:r>
              <a:rPr lang="en-US" sz="1800" b="1" i="0">
                <a:solidFill>
                  <a:srgbClr val="202124"/>
                </a:solidFill>
                <a:highlight>
                  <a:srgbClr val="FFFFFF"/>
                </a:highlight>
                <a:latin typeface="Arial"/>
                <a:ea typeface="Arial"/>
                <a:cs typeface="Arial"/>
                <a:sym typeface="Arial"/>
              </a:rPr>
              <a:t>β</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1800">
                <a:solidFill>
                  <a:srgbClr val="202124"/>
                </a:solidFill>
                <a:highlight>
                  <a:srgbClr val="FFFFFF"/>
                </a:highlight>
                <a:latin typeface="Arial"/>
                <a:ea typeface="Arial"/>
                <a:cs typeface="Arial"/>
                <a:sym typeface="Arial"/>
              </a:rPr>
              <a:t>s</a:t>
            </a:r>
            <a:r>
              <a:rPr lang="en-US" sz="1800" i="0">
                <a:solidFill>
                  <a:srgbClr val="202124"/>
                </a:solidFill>
                <a:highlight>
                  <a:srgbClr val="FFFFFF"/>
                </a:highlight>
                <a:latin typeface="Arial"/>
                <a:ea typeface="Arial"/>
                <a:cs typeface="Arial"/>
                <a:sym typeface="Arial"/>
              </a:rPr>
              <a:t>hould be equal</a:t>
            </a:r>
            <a:endParaRPr sz="1800" i="0">
              <a:solidFill>
                <a:srgbClr val="202124"/>
              </a:solidFill>
              <a:highlight>
                <a:srgbClr val="FFFFFF"/>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Practice Q/A</a:t>
            </a:r>
            <a:endParaRPr sz="3600" b="1">
              <a:latin typeface="Times New Roman"/>
              <a:ea typeface="Times New Roman"/>
              <a:cs typeface="Times New Roman"/>
              <a:sym typeface="Times New Roman"/>
            </a:endParaRPr>
          </a:p>
        </p:txBody>
      </p:sp>
      <p:graphicFrame>
        <p:nvGraphicFramePr>
          <p:cNvPr id="721" name="Google Shape;721;p76"/>
          <p:cNvGraphicFramePr/>
          <p:nvPr/>
        </p:nvGraphicFramePr>
        <p:xfrm>
          <a:off x="988204" y="1823847"/>
          <a:ext cx="3204250" cy="3481375"/>
        </p:xfrm>
        <a:graphic>
          <a:graphicData uri="http://schemas.openxmlformats.org/drawingml/2006/table">
            <a:tbl>
              <a:tblPr firstRow="1" bandRow="1">
                <a:noFill/>
              </a:tblPr>
              <a:tblGrid>
                <a:gridCol w="640850">
                  <a:extLst>
                    <a:ext uri="{9D8B030D-6E8A-4147-A177-3AD203B41FA5}">
                      <a16:colId xmlns:a16="http://schemas.microsoft.com/office/drawing/2014/main" val="20000"/>
                    </a:ext>
                  </a:extLst>
                </a:gridCol>
                <a:gridCol w="640850">
                  <a:extLst>
                    <a:ext uri="{9D8B030D-6E8A-4147-A177-3AD203B41FA5}">
                      <a16:colId xmlns:a16="http://schemas.microsoft.com/office/drawing/2014/main" val="20001"/>
                    </a:ext>
                  </a:extLst>
                </a:gridCol>
                <a:gridCol w="640850">
                  <a:extLst>
                    <a:ext uri="{9D8B030D-6E8A-4147-A177-3AD203B41FA5}">
                      <a16:colId xmlns:a16="http://schemas.microsoft.com/office/drawing/2014/main" val="20002"/>
                    </a:ext>
                  </a:extLst>
                </a:gridCol>
                <a:gridCol w="640850">
                  <a:extLst>
                    <a:ext uri="{9D8B030D-6E8A-4147-A177-3AD203B41FA5}">
                      <a16:colId xmlns:a16="http://schemas.microsoft.com/office/drawing/2014/main" val="20003"/>
                    </a:ext>
                  </a:extLst>
                </a:gridCol>
                <a:gridCol w="640850">
                  <a:extLst>
                    <a:ext uri="{9D8B030D-6E8A-4147-A177-3AD203B41FA5}">
                      <a16:colId xmlns:a16="http://schemas.microsoft.com/office/drawing/2014/main" val="20004"/>
                    </a:ext>
                  </a:extLst>
                </a:gridCol>
              </a:tblGrid>
              <a:tr h="6962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E</a:t>
                      </a:r>
                      <a:endParaRPr sz="1800"/>
                    </a:p>
                  </a:txBody>
                  <a:tcPr marL="91450" marR="91450" marT="45725" marB="45725"/>
                </a:tc>
                <a:extLst>
                  <a:ext uri="{0D108BD9-81ED-4DB2-BD59-A6C34878D82A}">
                    <a16:rowId xmlns:a16="http://schemas.microsoft.com/office/drawing/2014/main" val="10000"/>
                  </a:ext>
                </a:extLst>
              </a:tr>
              <a:tr h="6962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extLst>
                  <a:ext uri="{0D108BD9-81ED-4DB2-BD59-A6C34878D82A}">
                    <a16:rowId xmlns:a16="http://schemas.microsoft.com/office/drawing/2014/main" val="10001"/>
                  </a:ext>
                </a:extLst>
              </a:tr>
              <a:tr h="696275">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extLst>
                  <a:ext uri="{0D108BD9-81ED-4DB2-BD59-A6C34878D82A}">
                    <a16:rowId xmlns:a16="http://schemas.microsoft.com/office/drawing/2014/main" val="10002"/>
                  </a:ext>
                </a:extLst>
              </a:tr>
              <a:tr h="6962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extLst>
                  <a:ext uri="{0D108BD9-81ED-4DB2-BD59-A6C34878D82A}">
                    <a16:rowId xmlns:a16="http://schemas.microsoft.com/office/drawing/2014/main" val="10003"/>
                  </a:ext>
                </a:extLst>
              </a:tr>
              <a:tr h="6962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6 </a:t>
                      </a:r>
                      <a:endParaRPr sz="1800"/>
                    </a:p>
                  </a:txBody>
                  <a:tcPr marL="91450" marR="91450" marT="45725" marB="45725"/>
                </a:tc>
                <a:extLst>
                  <a:ext uri="{0D108BD9-81ED-4DB2-BD59-A6C34878D82A}">
                    <a16:rowId xmlns:a16="http://schemas.microsoft.com/office/drawing/2014/main" val="10004"/>
                  </a:ext>
                </a:extLst>
              </a:tr>
            </a:tbl>
          </a:graphicData>
        </a:graphic>
      </p:graphicFrame>
      <p:sp>
        <p:nvSpPr>
          <p:cNvPr id="722" name="Google Shape;722;p76"/>
          <p:cNvSpPr txBox="1"/>
          <p:nvPr/>
        </p:nvSpPr>
        <p:spPr>
          <a:xfrm>
            <a:off x="4917057" y="1690688"/>
            <a:ext cx="4528868"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Which of the following functional dependency  holds true as per the rule and why?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A-&gt; BC</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DE -&gt; C</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 -&gt; DE</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BC -&gt; A</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77"/>
          <p:cNvSpPr txBox="1">
            <a:spLocks noGrp="1"/>
          </p:cNvSpPr>
          <p:nvPr>
            <p:ph type="title"/>
          </p:nvPr>
        </p:nvSpPr>
        <p:spPr>
          <a:xfrm>
            <a:off x="838200" y="365125"/>
            <a:ext cx="10515600" cy="7649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Closure of Functional Dependencies</a:t>
            </a:r>
            <a:endParaRPr sz="3600" b="1">
              <a:latin typeface="Times New Roman"/>
              <a:ea typeface="Times New Roman"/>
              <a:cs typeface="Times New Roman"/>
              <a:sym typeface="Times New Roman"/>
            </a:endParaRPr>
          </a:p>
        </p:txBody>
      </p:sp>
      <p:sp>
        <p:nvSpPr>
          <p:cNvPr id="728" name="Google Shape;728;p77"/>
          <p:cNvSpPr txBox="1">
            <a:spLocks noGrp="1"/>
          </p:cNvSpPr>
          <p:nvPr>
            <p:ph type="body" idx="1"/>
          </p:nvPr>
        </p:nvSpPr>
        <p:spPr>
          <a:xfrm>
            <a:off x="838200" y="1130060"/>
            <a:ext cx="10515600" cy="504690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Closure method helps in finding all the </a:t>
            </a:r>
            <a:r>
              <a:rPr lang="en-US">
                <a:solidFill>
                  <a:srgbClr val="FF0000"/>
                </a:solidFill>
              </a:rPr>
              <a:t>CANDIDATE KEYS</a:t>
            </a:r>
            <a:r>
              <a:rPr lang="en-US"/>
              <a:t> in a relation.</a:t>
            </a:r>
            <a:endParaRPr/>
          </a:p>
          <a:p>
            <a:pPr marL="228600" lvl="0" indent="-228600" algn="l" rtl="0">
              <a:lnSpc>
                <a:spcPct val="90000"/>
              </a:lnSpc>
              <a:spcBef>
                <a:spcPts val="1000"/>
              </a:spcBef>
              <a:spcAft>
                <a:spcPts val="0"/>
              </a:spcAft>
              <a:buClr>
                <a:schemeClr val="dk1"/>
              </a:buClr>
              <a:buSzPts val="2800"/>
              <a:buChar char="•"/>
            </a:pPr>
            <a:r>
              <a:rPr lang="en-US"/>
              <a:t>While dealing with the normalization concept and functional dependencies, this is the most important and crucial concept.</a:t>
            </a:r>
            <a:endParaRPr/>
          </a:p>
          <a:p>
            <a:pPr marL="228600" lvl="0" indent="-228600" algn="l" rtl="0">
              <a:lnSpc>
                <a:spcPct val="90000"/>
              </a:lnSpc>
              <a:spcBef>
                <a:spcPts val="1000"/>
              </a:spcBef>
              <a:spcAft>
                <a:spcPts val="0"/>
              </a:spcAft>
              <a:buClr>
                <a:schemeClr val="dk1"/>
              </a:buClr>
              <a:buSzPts val="2800"/>
              <a:buChar char="•"/>
            </a:pPr>
            <a:r>
              <a:rPr lang="en-US"/>
              <a:t>With the help of candidate keys, we can identify </a:t>
            </a:r>
            <a:r>
              <a:rPr lang="en-US">
                <a:solidFill>
                  <a:srgbClr val="FF0000"/>
                </a:solidFill>
              </a:rPr>
              <a:t>PRIME</a:t>
            </a:r>
            <a:r>
              <a:rPr lang="en-US"/>
              <a:t> and </a:t>
            </a:r>
            <a:r>
              <a:rPr lang="en-US">
                <a:solidFill>
                  <a:srgbClr val="FF0000"/>
                </a:solidFill>
              </a:rPr>
              <a:t>NON PRIME</a:t>
            </a:r>
            <a:r>
              <a:rPr lang="en-US"/>
              <a:t> attributes which further helps in dealing with the normal forms.</a:t>
            </a:r>
            <a:endParaRPr/>
          </a:p>
          <a:p>
            <a:pPr marL="228600" lvl="0" indent="-228600" algn="l" rtl="0">
              <a:lnSpc>
                <a:spcPct val="90000"/>
              </a:lnSpc>
              <a:spcBef>
                <a:spcPts val="1000"/>
              </a:spcBef>
              <a:spcAft>
                <a:spcPts val="0"/>
              </a:spcAft>
              <a:buClr>
                <a:schemeClr val="dk1"/>
              </a:buClr>
              <a:buSzPts val="2800"/>
              <a:buChar char="•"/>
            </a:pPr>
            <a:r>
              <a:rPr lang="en-US"/>
              <a:t>E.g. R(A, B, C, D)    F.D. Set – { A-&gt;B, B-&gt;C, C-&gt;D }</a:t>
            </a:r>
            <a:endParaRPr/>
          </a:p>
          <a:p>
            <a:pPr marL="0" lvl="0" indent="0" algn="l" rtl="0">
              <a:lnSpc>
                <a:spcPct val="90000"/>
              </a:lnSpc>
              <a:spcBef>
                <a:spcPts val="1000"/>
              </a:spcBef>
              <a:spcAft>
                <a:spcPts val="0"/>
              </a:spcAft>
              <a:buClr>
                <a:schemeClr val="dk1"/>
              </a:buClr>
              <a:buSzPts val="2800"/>
              <a:buNone/>
            </a:pPr>
            <a:r>
              <a:rPr lang="en-US"/>
              <a:t>                    A</a:t>
            </a:r>
            <a:r>
              <a:rPr lang="en-US" sz="2400"/>
              <a:t>+ = ABCD</a:t>
            </a:r>
            <a:endParaRPr/>
          </a:p>
          <a:p>
            <a:pPr marL="0" lvl="0" indent="0" algn="l" rtl="0">
              <a:lnSpc>
                <a:spcPct val="90000"/>
              </a:lnSpc>
              <a:spcBef>
                <a:spcPts val="1000"/>
              </a:spcBef>
              <a:spcAft>
                <a:spcPts val="0"/>
              </a:spcAft>
              <a:buClr>
                <a:schemeClr val="dk1"/>
              </a:buClr>
              <a:buSzPts val="2400"/>
              <a:buNone/>
            </a:pPr>
            <a:r>
              <a:rPr lang="en-US" sz="2400"/>
              <a:t>	          B+ = BCD</a:t>
            </a:r>
            <a:endParaRPr/>
          </a:p>
          <a:p>
            <a:pPr marL="0" lvl="0" indent="0" algn="l" rtl="0">
              <a:lnSpc>
                <a:spcPct val="90000"/>
              </a:lnSpc>
              <a:spcBef>
                <a:spcPts val="1000"/>
              </a:spcBef>
              <a:spcAft>
                <a:spcPts val="0"/>
              </a:spcAft>
              <a:buClr>
                <a:schemeClr val="dk1"/>
              </a:buClr>
              <a:buSzPts val="2400"/>
              <a:buNone/>
            </a:pPr>
            <a:r>
              <a:rPr lang="en-US" sz="2400"/>
              <a:t>	          C+ = CD</a:t>
            </a:r>
            <a:endParaRPr/>
          </a:p>
          <a:p>
            <a:pPr marL="0" lvl="0" indent="0" algn="l" rtl="0">
              <a:lnSpc>
                <a:spcPct val="90000"/>
              </a:lnSpc>
              <a:spcBef>
                <a:spcPts val="1000"/>
              </a:spcBef>
              <a:spcAft>
                <a:spcPts val="0"/>
              </a:spcAft>
              <a:buClr>
                <a:schemeClr val="dk1"/>
              </a:buClr>
              <a:buSzPts val="2400"/>
              <a:buNone/>
            </a:pPr>
            <a:r>
              <a:rPr lang="en-US" sz="2400"/>
              <a:t>                        D+ = D</a:t>
            </a:r>
            <a:endParaRPr/>
          </a:p>
        </p:txBody>
      </p:sp>
      <p:sp>
        <p:nvSpPr>
          <p:cNvPr id="729" name="Google Shape;729;p77"/>
          <p:cNvSpPr txBox="1"/>
          <p:nvPr/>
        </p:nvSpPr>
        <p:spPr>
          <a:xfrm>
            <a:off x="4166558" y="4382219"/>
            <a:ext cx="69873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can determine each attribute of relation R, Hence it is a candidate key.</a:t>
            </a:r>
            <a:endParaRPr sz="1800">
              <a:solidFill>
                <a:schemeClr val="dk1"/>
              </a:solidFill>
              <a:latin typeface="Calibri"/>
              <a:ea typeface="Calibri"/>
              <a:cs typeface="Calibri"/>
              <a:sym typeface="Calibri"/>
            </a:endParaRPr>
          </a:p>
        </p:txBody>
      </p:sp>
      <p:sp>
        <p:nvSpPr>
          <p:cNvPr id="730" name="Google Shape;730;p77"/>
          <p:cNvSpPr txBox="1"/>
          <p:nvPr/>
        </p:nvSpPr>
        <p:spPr>
          <a:xfrm>
            <a:off x="4166558" y="4910259"/>
            <a:ext cx="76688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 can not determine each attribute of relation R, Hence it is not candidate key.</a:t>
            </a:r>
            <a:endParaRPr sz="1800">
              <a:solidFill>
                <a:schemeClr val="dk1"/>
              </a:solidFill>
              <a:latin typeface="Calibri"/>
              <a:ea typeface="Calibri"/>
              <a:cs typeface="Calibri"/>
              <a:sym typeface="Calibri"/>
            </a:endParaRPr>
          </a:p>
        </p:txBody>
      </p:sp>
      <p:sp>
        <p:nvSpPr>
          <p:cNvPr id="731" name="Google Shape;731;p77"/>
          <p:cNvSpPr txBox="1"/>
          <p:nvPr/>
        </p:nvSpPr>
        <p:spPr>
          <a:xfrm>
            <a:off x="4166558" y="5362602"/>
            <a:ext cx="76688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 can not determine each attribute of relation R, Hence it is not candidate key.</a:t>
            </a:r>
            <a:endParaRPr sz="1800">
              <a:solidFill>
                <a:schemeClr val="dk1"/>
              </a:solidFill>
              <a:latin typeface="Calibri"/>
              <a:ea typeface="Calibri"/>
              <a:cs typeface="Calibri"/>
              <a:sym typeface="Calibri"/>
            </a:endParaRPr>
          </a:p>
        </p:txBody>
      </p:sp>
      <p:sp>
        <p:nvSpPr>
          <p:cNvPr id="732" name="Google Shape;732;p77"/>
          <p:cNvSpPr txBox="1"/>
          <p:nvPr/>
        </p:nvSpPr>
        <p:spPr>
          <a:xfrm>
            <a:off x="4166558" y="5807631"/>
            <a:ext cx="76688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 can not determine each attribute of relation R, Hence it is not candidate key.</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78"/>
          <p:cNvSpPr txBox="1"/>
          <p:nvPr/>
        </p:nvSpPr>
        <p:spPr>
          <a:xfrm>
            <a:off x="1026543" y="517585"/>
            <a:ext cx="972197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Also have to check the combination, with ‘A’</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(AB)+ = ABCD             Hence, it is also a candidate key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But according to rule, </a:t>
            </a:r>
            <a:r>
              <a:rPr lang="en-US" sz="1800">
                <a:solidFill>
                  <a:srgbClr val="FF0000"/>
                </a:solidFill>
                <a:latin typeface="Calibri"/>
                <a:ea typeface="Calibri"/>
                <a:cs typeface="Calibri"/>
                <a:sym typeface="Calibri"/>
              </a:rPr>
              <a:t>candidate key </a:t>
            </a:r>
            <a:r>
              <a:rPr lang="en-US" sz="1800">
                <a:solidFill>
                  <a:schemeClr val="dk1"/>
                </a:solidFill>
                <a:latin typeface="Calibri"/>
                <a:ea typeface="Calibri"/>
                <a:cs typeface="Calibri"/>
                <a:sym typeface="Calibri"/>
              </a:rPr>
              <a:t>is </a:t>
            </a:r>
            <a:r>
              <a:rPr lang="en-US" sz="1800">
                <a:solidFill>
                  <a:srgbClr val="FF0000"/>
                </a:solidFill>
                <a:latin typeface="Calibri"/>
                <a:ea typeface="Calibri"/>
                <a:cs typeface="Calibri"/>
                <a:sym typeface="Calibri"/>
              </a:rPr>
              <a:t>minimal</a:t>
            </a:r>
            <a:r>
              <a:rPr lang="en-US" sz="1800">
                <a:solidFill>
                  <a:schemeClr val="dk1"/>
                </a:solidFill>
                <a:latin typeface="Calibri"/>
                <a:ea typeface="Calibri"/>
                <a:cs typeface="Calibri"/>
                <a:sym typeface="Calibri"/>
              </a:rPr>
              <a:t> in nature. So we cannot take AB as candidate key.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Hence , only ‘A’ will be the only candidate key.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PRIME ATTRIBUTE </a:t>
            </a:r>
            <a:r>
              <a:rPr lang="en-US" sz="1800">
                <a:solidFill>
                  <a:schemeClr val="dk1"/>
                </a:solidFill>
                <a:latin typeface="Calibri"/>
                <a:ea typeface="Calibri"/>
                <a:cs typeface="Calibri"/>
                <a:sym typeface="Calibri"/>
              </a:rPr>
              <a:t>– {A}</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NON-PRIME ATTRIBUTE </a:t>
            </a:r>
            <a:r>
              <a:rPr lang="en-US" sz="1800">
                <a:solidFill>
                  <a:schemeClr val="dk1"/>
                </a:solidFill>
                <a:latin typeface="Calibri"/>
                <a:ea typeface="Calibri"/>
                <a:cs typeface="Calibri"/>
                <a:sym typeface="Calibri"/>
              </a:rPr>
              <a:t>– {B,C,D}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Tips and Tricks </a:t>
            </a:r>
            <a:r>
              <a:rPr lang="en-US" sz="1800">
                <a:solidFill>
                  <a:schemeClr val="dk1"/>
                </a:solidFill>
                <a:latin typeface="Calibri"/>
                <a:ea typeface="Calibri"/>
                <a:cs typeface="Calibri"/>
                <a:sym typeface="Calibri"/>
              </a:rPr>
              <a:t>(Finding Candidate Key in Seconds)</a:t>
            </a:r>
            <a:br>
              <a:rPr lang="en-US" sz="1800" b="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Check the attribute which is not on the RHS, that attribute will sure be the part of candidate key.</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79"/>
          <p:cNvSpPr txBox="1">
            <a:spLocks noGrp="1"/>
          </p:cNvSpPr>
          <p:nvPr>
            <p:ph type="title"/>
          </p:nvPr>
        </p:nvSpPr>
        <p:spPr>
          <a:xfrm>
            <a:off x="838200" y="365126"/>
            <a:ext cx="10515600" cy="68729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Statements</a:t>
            </a:r>
            <a:endParaRPr sz="3600" b="1">
              <a:latin typeface="Times New Roman"/>
              <a:ea typeface="Times New Roman"/>
              <a:cs typeface="Times New Roman"/>
              <a:sym typeface="Times New Roman"/>
            </a:endParaRPr>
          </a:p>
        </p:txBody>
      </p:sp>
      <p:sp>
        <p:nvSpPr>
          <p:cNvPr id="743" name="Google Shape;743;p79"/>
          <p:cNvSpPr txBox="1"/>
          <p:nvPr/>
        </p:nvSpPr>
        <p:spPr>
          <a:xfrm>
            <a:off x="655608" y="1319841"/>
            <a:ext cx="4934309"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1. Consider a relation R having attributes as R(ABCD), functional dependencies are given below:</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AB-&gt;C, C-&gt;D, D-&gt;A</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Identify the set of candidate keys possible in relation R. List all the set of prime and non prime attributes.</a:t>
            </a:r>
            <a:endParaRPr sz="1800" dirty="0">
              <a:solidFill>
                <a:schemeClr val="dk1"/>
              </a:solidFill>
              <a:latin typeface="Calibri"/>
              <a:ea typeface="Calibri"/>
              <a:cs typeface="Calibri"/>
              <a:sym typeface="Calibri"/>
            </a:endParaRPr>
          </a:p>
        </p:txBody>
      </p:sp>
      <p:sp>
        <p:nvSpPr>
          <p:cNvPr id="744" name="Google Shape;744;p79"/>
          <p:cNvSpPr txBox="1"/>
          <p:nvPr/>
        </p:nvSpPr>
        <p:spPr>
          <a:xfrm>
            <a:off x="655607" y="4317749"/>
            <a:ext cx="4934309"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2. Relation R(ABCDE) having functional dependencies as :</a:t>
            </a:r>
            <a:endParaRPr dirty="0"/>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A-&gt;D, B-&gt;A, BC-&gt;D, AC-&gt;BE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Identify the set of candidate keys possible in relation R. List all the set of prime and non prime attributes.</a:t>
            </a:r>
            <a:endParaRPr sz="1800" dirty="0">
              <a:solidFill>
                <a:schemeClr val="dk1"/>
              </a:solidFill>
              <a:latin typeface="Calibri"/>
              <a:ea typeface="Calibri"/>
              <a:cs typeface="Calibri"/>
              <a:sym typeface="Calibri"/>
            </a:endParaRPr>
          </a:p>
        </p:txBody>
      </p:sp>
      <p:sp>
        <p:nvSpPr>
          <p:cNvPr id="745" name="Google Shape;745;p79"/>
          <p:cNvSpPr txBox="1"/>
          <p:nvPr/>
        </p:nvSpPr>
        <p:spPr>
          <a:xfrm>
            <a:off x="6156385" y="1186132"/>
            <a:ext cx="4934309"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3. Consider a relation R having attributes as R(ABCDE), functional dependencies are given below:</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B-&gt;A, A-&gt;C, BC-&gt;D, AC-&gt;BE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Identify the set of candidate keys possible in relation R. List all the set of prime and non prime attributes.</a:t>
            </a:r>
            <a:endParaRPr sz="1800" dirty="0">
              <a:solidFill>
                <a:schemeClr val="dk1"/>
              </a:solidFill>
              <a:latin typeface="Calibri"/>
              <a:ea typeface="Calibri"/>
              <a:cs typeface="Calibri"/>
              <a:sym typeface="Calibri"/>
            </a:endParaRPr>
          </a:p>
        </p:txBody>
      </p:sp>
      <p:sp>
        <p:nvSpPr>
          <p:cNvPr id="746" name="Google Shape;746;p79"/>
          <p:cNvSpPr txBox="1"/>
          <p:nvPr/>
        </p:nvSpPr>
        <p:spPr>
          <a:xfrm>
            <a:off x="6156385" y="3905164"/>
            <a:ext cx="4934309"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4. Consider a relation R having attributes as R(ABCDEF), functional dependencies are given below:</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A-&gt;BCD, BC-&gt;DE, B-&gt;D, D-&gt;A</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Identify the set of candidate keys possible in relation R. List all the set of prime and non prime attributes.</a:t>
            </a:r>
            <a:endParaRPr sz="180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80"/>
          <p:cNvSpPr txBox="1">
            <a:spLocks noGrp="1"/>
          </p:cNvSpPr>
          <p:nvPr>
            <p:ph type="title"/>
          </p:nvPr>
        </p:nvSpPr>
        <p:spPr>
          <a:xfrm>
            <a:off x="838200" y="365126"/>
            <a:ext cx="10515600" cy="7390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Canonical Cover</a:t>
            </a:r>
            <a:endParaRPr sz="3600" b="1">
              <a:latin typeface="Times New Roman"/>
              <a:ea typeface="Times New Roman"/>
              <a:cs typeface="Times New Roman"/>
              <a:sym typeface="Times New Roman"/>
            </a:endParaRPr>
          </a:p>
        </p:txBody>
      </p:sp>
      <p:sp>
        <p:nvSpPr>
          <p:cNvPr id="752" name="Google Shape;752;p80"/>
          <p:cNvSpPr txBox="1">
            <a:spLocks noGrp="1"/>
          </p:cNvSpPr>
          <p:nvPr>
            <p:ph type="body" idx="1"/>
          </p:nvPr>
        </p:nvSpPr>
        <p:spPr>
          <a:xfrm>
            <a:off x="838200" y="1104182"/>
            <a:ext cx="10515600" cy="507278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One of the most important topic on functional dependency – Finding the canonical cover.</a:t>
            </a:r>
            <a:endParaRPr/>
          </a:p>
          <a:p>
            <a:pPr marL="228600" lvl="0" indent="-228600" algn="l" rtl="0">
              <a:lnSpc>
                <a:spcPct val="90000"/>
              </a:lnSpc>
              <a:spcBef>
                <a:spcPts val="1000"/>
              </a:spcBef>
              <a:spcAft>
                <a:spcPts val="0"/>
              </a:spcAft>
              <a:buClr>
                <a:schemeClr val="dk1"/>
              </a:buClr>
              <a:buSzPts val="2800"/>
              <a:buChar char="•"/>
            </a:pPr>
            <a:r>
              <a:rPr lang="en-US"/>
              <a:t>Canonical cover is the minimized set from given functional dependencies, after removing the redundant set of FDs.</a:t>
            </a:r>
            <a:endParaRPr/>
          </a:p>
        </p:txBody>
      </p:sp>
      <p:pic>
        <p:nvPicPr>
          <p:cNvPr id="753" name="Google Shape;753;p80"/>
          <p:cNvPicPr preferRelativeResize="0"/>
          <p:nvPr/>
        </p:nvPicPr>
        <p:blipFill rotWithShape="1">
          <a:blip r:embed="rId3">
            <a:alphaModFix/>
          </a:blip>
          <a:srcRect/>
          <a:stretch/>
        </p:blipFill>
        <p:spPr>
          <a:xfrm>
            <a:off x="1361414" y="3315078"/>
            <a:ext cx="9469171" cy="24387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81"/>
          <p:cNvSpPr txBox="1">
            <a:spLocks noGrp="1"/>
          </p:cNvSpPr>
          <p:nvPr>
            <p:ph type="title"/>
          </p:nvPr>
        </p:nvSpPr>
        <p:spPr>
          <a:xfrm>
            <a:off x="838200" y="365125"/>
            <a:ext cx="10515600" cy="6010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a:t>
            </a:r>
            <a:endParaRPr sz="3600" b="1">
              <a:latin typeface="Times New Roman"/>
              <a:ea typeface="Times New Roman"/>
              <a:cs typeface="Times New Roman"/>
              <a:sym typeface="Times New Roman"/>
            </a:endParaRPr>
          </a:p>
        </p:txBody>
      </p:sp>
      <p:sp>
        <p:nvSpPr>
          <p:cNvPr id="759" name="Google Shape;759;p81"/>
          <p:cNvSpPr txBox="1">
            <a:spLocks noGrp="1"/>
          </p:cNvSpPr>
          <p:nvPr>
            <p:ph type="body" idx="1"/>
          </p:nvPr>
        </p:nvSpPr>
        <p:spPr>
          <a:xfrm>
            <a:off x="838200" y="1026543"/>
            <a:ext cx="10515600" cy="52108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Designing a student database involves certain dependencies which are listed below:</a:t>
            </a:r>
            <a:endParaRPr dirty="0"/>
          </a:p>
          <a:p>
            <a:pPr marL="0" lvl="0" indent="0" algn="l" rtl="0">
              <a:lnSpc>
                <a:spcPct val="90000"/>
              </a:lnSpc>
              <a:spcBef>
                <a:spcPts val="1000"/>
              </a:spcBef>
              <a:spcAft>
                <a:spcPts val="0"/>
              </a:spcAft>
              <a:buClr>
                <a:schemeClr val="dk1"/>
              </a:buClr>
              <a:buSzPts val="2000"/>
              <a:buNone/>
            </a:pPr>
            <a:r>
              <a:rPr lang="en-US" sz="2000" b="1" dirty="0"/>
              <a:t>   </a:t>
            </a:r>
            <a:r>
              <a:rPr lang="en-US" sz="2300" b="1" dirty="0"/>
              <a:t>X -&gt;Y</a:t>
            </a:r>
            <a:endParaRPr dirty="0"/>
          </a:p>
          <a:p>
            <a:pPr marL="0" lvl="0" indent="0" algn="l" rtl="0">
              <a:lnSpc>
                <a:spcPct val="90000"/>
              </a:lnSpc>
              <a:spcBef>
                <a:spcPts val="1000"/>
              </a:spcBef>
              <a:spcAft>
                <a:spcPts val="0"/>
              </a:spcAft>
              <a:buClr>
                <a:schemeClr val="dk1"/>
              </a:buClr>
              <a:buSzPts val="2300"/>
              <a:buNone/>
            </a:pPr>
            <a:r>
              <a:rPr lang="en-US" sz="2300" b="1" dirty="0"/>
              <a:t>   WZ -&gt;X</a:t>
            </a:r>
            <a:endParaRPr dirty="0"/>
          </a:p>
          <a:p>
            <a:pPr marL="0" lvl="0" indent="0" algn="l" rtl="0">
              <a:lnSpc>
                <a:spcPct val="90000"/>
              </a:lnSpc>
              <a:spcBef>
                <a:spcPts val="1000"/>
              </a:spcBef>
              <a:spcAft>
                <a:spcPts val="0"/>
              </a:spcAft>
              <a:buClr>
                <a:schemeClr val="dk1"/>
              </a:buClr>
              <a:buSzPts val="2300"/>
              <a:buNone/>
            </a:pPr>
            <a:r>
              <a:rPr lang="en-US" sz="2300" b="1" dirty="0"/>
              <a:t>   WZ -&gt;Y</a:t>
            </a:r>
            <a:endParaRPr dirty="0"/>
          </a:p>
          <a:p>
            <a:pPr marL="0" lvl="0" indent="0" algn="l" rtl="0">
              <a:lnSpc>
                <a:spcPct val="90000"/>
              </a:lnSpc>
              <a:spcBef>
                <a:spcPts val="1000"/>
              </a:spcBef>
              <a:spcAft>
                <a:spcPts val="0"/>
              </a:spcAft>
              <a:buClr>
                <a:schemeClr val="dk1"/>
              </a:buClr>
              <a:buSzPts val="2300"/>
              <a:buNone/>
            </a:pPr>
            <a:r>
              <a:rPr lang="en-US" sz="2300" b="1" dirty="0"/>
              <a:t>   Y -&gt;W</a:t>
            </a:r>
            <a:endParaRPr dirty="0"/>
          </a:p>
          <a:p>
            <a:pPr marL="0" lvl="0" indent="0" algn="l" rtl="0">
              <a:lnSpc>
                <a:spcPct val="90000"/>
              </a:lnSpc>
              <a:spcBef>
                <a:spcPts val="1000"/>
              </a:spcBef>
              <a:spcAft>
                <a:spcPts val="0"/>
              </a:spcAft>
              <a:buClr>
                <a:schemeClr val="dk1"/>
              </a:buClr>
              <a:buSzPts val="2300"/>
              <a:buNone/>
            </a:pPr>
            <a:r>
              <a:rPr lang="en-US" sz="2300" b="1" dirty="0"/>
              <a:t>   Y -&gt;X</a:t>
            </a:r>
            <a:endParaRPr dirty="0"/>
          </a:p>
          <a:p>
            <a:pPr marL="0" lvl="0" indent="0" algn="l" rtl="0">
              <a:lnSpc>
                <a:spcPct val="90000"/>
              </a:lnSpc>
              <a:spcBef>
                <a:spcPts val="1000"/>
              </a:spcBef>
              <a:spcAft>
                <a:spcPts val="0"/>
              </a:spcAft>
              <a:buClr>
                <a:schemeClr val="dk1"/>
              </a:buClr>
              <a:buSzPts val="2300"/>
              <a:buNone/>
            </a:pPr>
            <a:r>
              <a:rPr lang="en-US" sz="2300" b="1" dirty="0"/>
              <a:t>   Y -&gt;Z</a:t>
            </a:r>
            <a:endParaRPr dirty="0"/>
          </a:p>
          <a:p>
            <a:pPr marL="0" lvl="0" indent="0" algn="l" rtl="0">
              <a:lnSpc>
                <a:spcPct val="90000"/>
              </a:lnSpc>
              <a:spcBef>
                <a:spcPts val="1000"/>
              </a:spcBef>
              <a:spcAft>
                <a:spcPts val="0"/>
              </a:spcAft>
              <a:buClr>
                <a:schemeClr val="dk1"/>
              </a:buClr>
              <a:buSzPts val="2800"/>
              <a:buNone/>
            </a:pPr>
            <a:r>
              <a:rPr lang="en-US" dirty="0"/>
              <a:t>The task here is to remove all the redundant FDs for efficient working   of the student database management system. </a:t>
            </a:r>
            <a:endParaRPr sz="20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82"/>
          <p:cNvSpPr txBox="1">
            <a:spLocks noGrp="1"/>
          </p:cNvSpPr>
          <p:nvPr>
            <p:ph type="title"/>
          </p:nvPr>
        </p:nvSpPr>
        <p:spPr>
          <a:xfrm>
            <a:off x="838200" y="365125"/>
            <a:ext cx="10515600" cy="6010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a:t>
            </a:r>
            <a:endParaRPr sz="3600" b="1">
              <a:latin typeface="Times New Roman"/>
              <a:ea typeface="Times New Roman"/>
              <a:cs typeface="Times New Roman"/>
              <a:sym typeface="Times New Roman"/>
            </a:endParaRPr>
          </a:p>
        </p:txBody>
      </p:sp>
      <p:sp>
        <p:nvSpPr>
          <p:cNvPr id="765" name="Google Shape;765;p82"/>
          <p:cNvSpPr txBox="1">
            <a:spLocks noGrp="1"/>
          </p:cNvSpPr>
          <p:nvPr>
            <p:ph type="body" idx="1"/>
          </p:nvPr>
        </p:nvSpPr>
        <p:spPr>
          <a:xfrm>
            <a:off x="838200" y="1026543"/>
            <a:ext cx="10515600" cy="5210805"/>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dirty="0"/>
              <a:t>Debix Pvt Ltd needs to maintain database having dependent attributes ABCDEF. These attributes are functionally dependent on each other for which functionally dependency set F given as:</a:t>
            </a:r>
            <a:endParaRPr dirty="0"/>
          </a:p>
          <a:p>
            <a:pPr marL="0" lvl="0" indent="0" algn="just" rtl="0">
              <a:lnSpc>
                <a:spcPct val="90000"/>
              </a:lnSpc>
              <a:spcBef>
                <a:spcPts val="1000"/>
              </a:spcBef>
              <a:spcAft>
                <a:spcPts val="0"/>
              </a:spcAft>
              <a:buClr>
                <a:schemeClr val="dk1"/>
              </a:buClr>
              <a:buSzPts val="2800"/>
              <a:buNone/>
            </a:pPr>
            <a:r>
              <a:rPr lang="en-US" b="1" dirty="0"/>
              <a:t>{A -&gt; BC, D -&gt; E, BC -&gt; D, A -&gt; D} </a:t>
            </a:r>
            <a:r>
              <a:rPr lang="en-US" dirty="0"/>
              <a:t>Consider a universal relation R1(A, B,  C, D, E, F) with functional dependency set F, also all attributes are simple and take atomic values only. Then the minimal cover F’ of functional dependency set F is?</a:t>
            </a:r>
            <a:r>
              <a:rPr lang="en-US" b="1" dirty="0"/>
              <a:t>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83"/>
          <p:cNvSpPr txBox="1">
            <a:spLocks noGrp="1"/>
          </p:cNvSpPr>
          <p:nvPr>
            <p:ph type="title"/>
          </p:nvPr>
        </p:nvSpPr>
        <p:spPr>
          <a:xfrm>
            <a:off x="838200" y="365125"/>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Normalization</a:t>
            </a:r>
            <a:endParaRPr b="1">
              <a:latin typeface="Times New Roman"/>
              <a:ea typeface="Times New Roman"/>
              <a:cs typeface="Times New Roman"/>
              <a:sym typeface="Times New Roman"/>
            </a:endParaRPr>
          </a:p>
        </p:txBody>
      </p:sp>
      <p:sp>
        <p:nvSpPr>
          <p:cNvPr id="771" name="Google Shape;771;p83"/>
          <p:cNvSpPr txBox="1">
            <a:spLocks noGrp="1"/>
          </p:cNvSpPr>
          <p:nvPr>
            <p:ph type="body" idx="1"/>
          </p:nvPr>
        </p:nvSpPr>
        <p:spPr>
          <a:xfrm>
            <a:off x="838200" y="1449238"/>
            <a:ext cx="10515600" cy="472772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400"/>
              <a:buChar char="•"/>
            </a:pPr>
            <a:r>
              <a:rPr lang="en-US" sz="2400" dirty="0"/>
              <a:t>When we define a large database as a single relation, there are chances of data redundancy and inconsistency.</a:t>
            </a:r>
            <a:endParaRPr dirty="0"/>
          </a:p>
          <a:p>
            <a:pPr marL="228600" lvl="0" indent="-228600" algn="just" rtl="0">
              <a:lnSpc>
                <a:spcPct val="90000"/>
              </a:lnSpc>
              <a:spcBef>
                <a:spcPts val="1000"/>
              </a:spcBef>
              <a:spcAft>
                <a:spcPts val="0"/>
              </a:spcAft>
              <a:buClr>
                <a:schemeClr val="dk1"/>
              </a:buClr>
              <a:buSzPts val="2400"/>
              <a:buChar char="•"/>
            </a:pPr>
            <a:r>
              <a:rPr lang="en-US" sz="2400" dirty="0"/>
              <a:t>This leads to various problems such as maintaining the huge amount of data, improper utilization of disk space and resources and many more.</a:t>
            </a:r>
            <a:endParaRPr dirty="0"/>
          </a:p>
          <a:p>
            <a:pPr marL="228600" lvl="0" indent="-228600" algn="just" rtl="0">
              <a:lnSpc>
                <a:spcPct val="90000"/>
              </a:lnSpc>
              <a:spcBef>
                <a:spcPts val="1000"/>
              </a:spcBef>
              <a:spcAft>
                <a:spcPts val="0"/>
              </a:spcAft>
              <a:buClr>
                <a:schemeClr val="dk1"/>
              </a:buClr>
              <a:buSzPts val="2400"/>
              <a:buChar char="•"/>
            </a:pPr>
            <a:r>
              <a:rPr lang="en-US" sz="2400" dirty="0"/>
              <a:t>In-order to handle these issues, </a:t>
            </a:r>
            <a:r>
              <a:rPr lang="en-US" sz="2400" dirty="0">
                <a:solidFill>
                  <a:srgbClr val="FF0000"/>
                </a:solidFill>
              </a:rPr>
              <a:t>NORMALIZATION</a:t>
            </a:r>
            <a:r>
              <a:rPr lang="en-US" sz="2400" dirty="0"/>
              <a:t> comes into the picture.</a:t>
            </a:r>
            <a:endParaRPr dirty="0"/>
          </a:p>
          <a:p>
            <a:pPr marL="228600" lvl="0" indent="-228600" algn="just" rtl="0">
              <a:lnSpc>
                <a:spcPct val="90000"/>
              </a:lnSpc>
              <a:spcBef>
                <a:spcPts val="1000"/>
              </a:spcBef>
              <a:spcAft>
                <a:spcPts val="0"/>
              </a:spcAft>
              <a:buClr>
                <a:schemeClr val="dk1"/>
              </a:buClr>
              <a:buSzPts val="2400"/>
              <a:buChar char="•"/>
            </a:pPr>
            <a:r>
              <a:rPr lang="en-US" sz="2400" dirty="0"/>
              <a:t>Normalization helps us to reduce the redundancy from relations, divides the larger table into smaller tables and helps in dealing with insertion, deletion and </a:t>
            </a:r>
            <a:r>
              <a:rPr lang="en-US" sz="2400" dirty="0" err="1"/>
              <a:t>updatation</a:t>
            </a:r>
            <a:r>
              <a:rPr lang="en-US" sz="2400" dirty="0"/>
              <a:t> anomalies.</a:t>
            </a:r>
            <a:endParaRPr dirty="0"/>
          </a:p>
        </p:txBody>
      </p:sp>
    </p:spTree>
    <p:extLst>
      <p:ext uri="{BB962C8B-B14F-4D97-AF65-F5344CB8AC3E}">
        <p14:creationId xmlns:p14="http://schemas.microsoft.com/office/powerpoint/2010/main" val="4154245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83"/>
          <p:cNvSpPr txBox="1">
            <a:spLocks noGrp="1"/>
          </p:cNvSpPr>
          <p:nvPr>
            <p:ph type="title"/>
          </p:nvPr>
        </p:nvSpPr>
        <p:spPr>
          <a:xfrm>
            <a:off x="838200" y="365125"/>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Data Anomalies</a:t>
            </a:r>
            <a:endParaRPr b="1" dirty="0">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92F07614-E4C8-D71B-CDC8-1C958278B78C}"/>
              </a:ext>
            </a:extLst>
          </p:cNvPr>
          <p:cNvPicPr>
            <a:picLocks noChangeAspect="1"/>
          </p:cNvPicPr>
          <p:nvPr/>
        </p:nvPicPr>
        <p:blipFill>
          <a:blip r:embed="rId3"/>
          <a:stretch>
            <a:fillRect/>
          </a:stretch>
        </p:blipFill>
        <p:spPr>
          <a:xfrm>
            <a:off x="1106904" y="2233445"/>
            <a:ext cx="9529011" cy="29160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84"/>
          <p:cNvSpPr txBox="1">
            <a:spLocks noGrp="1"/>
          </p:cNvSpPr>
          <p:nvPr>
            <p:ph type="title"/>
          </p:nvPr>
        </p:nvSpPr>
        <p:spPr>
          <a:xfrm>
            <a:off x="838200" y="365125"/>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Normalization</a:t>
            </a:r>
            <a:endParaRPr b="1">
              <a:latin typeface="Times New Roman"/>
              <a:ea typeface="Times New Roman"/>
              <a:cs typeface="Times New Roman"/>
              <a:sym typeface="Times New Roman"/>
            </a:endParaRPr>
          </a:p>
        </p:txBody>
      </p:sp>
      <p:pic>
        <p:nvPicPr>
          <p:cNvPr id="777" name="Google Shape;777;p84"/>
          <p:cNvPicPr preferRelativeResize="0"/>
          <p:nvPr/>
        </p:nvPicPr>
        <p:blipFill rotWithShape="1">
          <a:blip r:embed="rId3">
            <a:alphaModFix/>
          </a:blip>
          <a:srcRect/>
          <a:stretch/>
        </p:blipFill>
        <p:spPr>
          <a:xfrm>
            <a:off x="1104181" y="1518248"/>
            <a:ext cx="9877245" cy="389051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6" name="Picture 5">
            <a:extLst>
              <a:ext uri="{FF2B5EF4-FFF2-40B4-BE49-F238E27FC236}">
                <a16:creationId xmlns:a16="http://schemas.microsoft.com/office/drawing/2014/main" id="{6F27C087-7700-9616-71EC-7420663AF61C}"/>
              </a:ext>
            </a:extLst>
          </p:cNvPr>
          <p:cNvPicPr>
            <a:picLocks noChangeAspect="1"/>
          </p:cNvPicPr>
          <p:nvPr/>
        </p:nvPicPr>
        <p:blipFill>
          <a:blip r:embed="rId3"/>
          <a:stretch>
            <a:fillRect/>
          </a:stretch>
        </p:blipFill>
        <p:spPr>
          <a:xfrm>
            <a:off x="1283368" y="833138"/>
            <a:ext cx="9464843" cy="5069306"/>
          </a:xfrm>
          <a:prstGeom prst="rect">
            <a:avLst/>
          </a:prstGeom>
        </p:spPr>
      </p:pic>
    </p:spTree>
    <p:extLst>
      <p:ext uri="{BB962C8B-B14F-4D97-AF65-F5344CB8AC3E}">
        <p14:creationId xmlns:p14="http://schemas.microsoft.com/office/powerpoint/2010/main" val="2553912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3" name="Picture 2">
            <a:extLst>
              <a:ext uri="{FF2B5EF4-FFF2-40B4-BE49-F238E27FC236}">
                <a16:creationId xmlns:a16="http://schemas.microsoft.com/office/drawing/2014/main" id="{5EDC6E2D-2680-CB49-A358-AFDB72A4ED3F}"/>
              </a:ext>
            </a:extLst>
          </p:cNvPr>
          <p:cNvPicPr>
            <a:picLocks noChangeAspect="1"/>
          </p:cNvPicPr>
          <p:nvPr/>
        </p:nvPicPr>
        <p:blipFill>
          <a:blip r:embed="rId3"/>
          <a:stretch>
            <a:fillRect/>
          </a:stretch>
        </p:blipFill>
        <p:spPr>
          <a:xfrm>
            <a:off x="481263" y="926431"/>
            <a:ext cx="10459453" cy="5005137"/>
          </a:xfrm>
          <a:prstGeom prst="rect">
            <a:avLst/>
          </a:prstGeom>
        </p:spPr>
      </p:pic>
    </p:spTree>
    <p:extLst>
      <p:ext uri="{BB962C8B-B14F-4D97-AF65-F5344CB8AC3E}">
        <p14:creationId xmlns:p14="http://schemas.microsoft.com/office/powerpoint/2010/main" val="1196067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4" name="Picture 3">
            <a:extLst>
              <a:ext uri="{FF2B5EF4-FFF2-40B4-BE49-F238E27FC236}">
                <a16:creationId xmlns:a16="http://schemas.microsoft.com/office/drawing/2014/main" id="{6FCAD56D-6B96-9C5A-6C9F-2693B0CA1C50}"/>
              </a:ext>
            </a:extLst>
          </p:cNvPr>
          <p:cNvPicPr>
            <a:picLocks noChangeAspect="1"/>
          </p:cNvPicPr>
          <p:nvPr/>
        </p:nvPicPr>
        <p:blipFill>
          <a:blip r:embed="rId3"/>
          <a:stretch>
            <a:fillRect/>
          </a:stretch>
        </p:blipFill>
        <p:spPr>
          <a:xfrm>
            <a:off x="818148" y="1395662"/>
            <a:ext cx="9914021" cy="4572001"/>
          </a:xfrm>
          <a:prstGeom prst="rect">
            <a:avLst/>
          </a:prstGeom>
        </p:spPr>
      </p:pic>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1NF</a:t>
            </a:r>
            <a:endParaRPr b="1"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090656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1NF - Decomposition</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5ABFB6D0-2D8D-1699-CA0F-CC88F1862737}"/>
              </a:ext>
            </a:extLst>
          </p:cNvPr>
          <p:cNvPicPr>
            <a:picLocks noChangeAspect="1"/>
          </p:cNvPicPr>
          <p:nvPr/>
        </p:nvPicPr>
        <p:blipFill>
          <a:blip r:embed="rId3"/>
          <a:stretch>
            <a:fillRect/>
          </a:stretch>
        </p:blipFill>
        <p:spPr>
          <a:xfrm>
            <a:off x="818148" y="1395663"/>
            <a:ext cx="9865894" cy="4395538"/>
          </a:xfrm>
          <a:prstGeom prst="rect">
            <a:avLst/>
          </a:prstGeom>
        </p:spPr>
      </p:pic>
    </p:spTree>
    <p:extLst>
      <p:ext uri="{BB962C8B-B14F-4D97-AF65-F5344CB8AC3E}">
        <p14:creationId xmlns:p14="http://schemas.microsoft.com/office/powerpoint/2010/main" val="175870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4" name="Picture 3">
            <a:extLst>
              <a:ext uri="{FF2B5EF4-FFF2-40B4-BE49-F238E27FC236}">
                <a16:creationId xmlns:a16="http://schemas.microsoft.com/office/drawing/2014/main" id="{4B30AF96-D132-BE21-731F-D721D1AA7F05}"/>
              </a:ext>
            </a:extLst>
          </p:cNvPr>
          <p:cNvPicPr>
            <a:picLocks noChangeAspect="1"/>
          </p:cNvPicPr>
          <p:nvPr/>
        </p:nvPicPr>
        <p:blipFill>
          <a:blip r:embed="rId3"/>
          <a:stretch>
            <a:fillRect/>
          </a:stretch>
        </p:blipFill>
        <p:spPr>
          <a:xfrm>
            <a:off x="786063" y="721895"/>
            <a:ext cx="9962148" cy="5261809"/>
          </a:xfrm>
          <a:prstGeom prst="rect">
            <a:avLst/>
          </a:prstGeom>
        </p:spPr>
      </p:pic>
    </p:spTree>
    <p:extLst>
      <p:ext uri="{BB962C8B-B14F-4D97-AF65-F5344CB8AC3E}">
        <p14:creationId xmlns:p14="http://schemas.microsoft.com/office/powerpoint/2010/main" val="26663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2-NF</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C09D327-0986-D150-3CD1-DB451A3C0324}"/>
              </a:ext>
            </a:extLst>
          </p:cNvPr>
          <p:cNvPicPr>
            <a:picLocks noChangeAspect="1"/>
          </p:cNvPicPr>
          <p:nvPr/>
        </p:nvPicPr>
        <p:blipFill>
          <a:blip r:embed="rId3"/>
          <a:stretch>
            <a:fillRect/>
          </a:stretch>
        </p:blipFill>
        <p:spPr>
          <a:xfrm>
            <a:off x="818148" y="1395662"/>
            <a:ext cx="9352548" cy="3769895"/>
          </a:xfrm>
          <a:prstGeom prst="rect">
            <a:avLst/>
          </a:prstGeom>
        </p:spPr>
      </p:pic>
      <p:sp>
        <p:nvSpPr>
          <p:cNvPr id="5" name="TextBox 4">
            <a:extLst>
              <a:ext uri="{FF2B5EF4-FFF2-40B4-BE49-F238E27FC236}">
                <a16:creationId xmlns:a16="http://schemas.microsoft.com/office/drawing/2014/main" id="{D23C81D3-562E-C9FB-27DA-4AE6C0C7280E}"/>
              </a:ext>
            </a:extLst>
          </p:cNvPr>
          <p:cNvSpPr txBox="1"/>
          <p:nvPr/>
        </p:nvSpPr>
        <p:spPr>
          <a:xfrm>
            <a:off x="1098884" y="5566611"/>
            <a:ext cx="9312443" cy="584775"/>
          </a:xfrm>
          <a:prstGeom prst="rect">
            <a:avLst/>
          </a:prstGeom>
          <a:noFill/>
        </p:spPr>
        <p:txBody>
          <a:bodyPr wrap="square" rtlCol="0">
            <a:spAutoFit/>
          </a:bodyPr>
          <a:lstStyle/>
          <a:p>
            <a:r>
              <a:rPr lang="en-US" sz="1600" b="1" dirty="0">
                <a:solidFill>
                  <a:schemeClr val="accent5"/>
                </a:solidFill>
              </a:rPr>
              <a:t>Employee ID and Department ID forms the P.K in this case.</a:t>
            </a:r>
          </a:p>
          <a:p>
            <a:r>
              <a:rPr lang="en-US" sz="1600" b="1" dirty="0">
                <a:solidFill>
                  <a:srgbClr val="FF0000"/>
                </a:solidFill>
              </a:rPr>
              <a:t>Department ID determines Office Location – Clear cut case of Partial Dependency</a:t>
            </a:r>
            <a:endParaRPr lang="en-IN" sz="1600" b="1" dirty="0">
              <a:solidFill>
                <a:srgbClr val="FF0000"/>
              </a:solidFill>
            </a:endParaRPr>
          </a:p>
        </p:txBody>
      </p:sp>
    </p:spTree>
    <p:extLst>
      <p:ext uri="{BB962C8B-B14F-4D97-AF65-F5344CB8AC3E}">
        <p14:creationId xmlns:p14="http://schemas.microsoft.com/office/powerpoint/2010/main" val="1514625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2-NF -  Decomposition</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C09D327-0986-D150-3CD1-DB451A3C0324}"/>
              </a:ext>
            </a:extLst>
          </p:cNvPr>
          <p:cNvPicPr>
            <a:picLocks noChangeAspect="1"/>
          </p:cNvPicPr>
          <p:nvPr/>
        </p:nvPicPr>
        <p:blipFill>
          <a:blip r:embed="rId3"/>
          <a:stretch>
            <a:fillRect/>
          </a:stretch>
        </p:blipFill>
        <p:spPr>
          <a:xfrm>
            <a:off x="368969" y="1898983"/>
            <a:ext cx="4507831" cy="3416970"/>
          </a:xfrm>
          <a:prstGeom prst="rect">
            <a:avLst/>
          </a:prstGeom>
        </p:spPr>
      </p:pic>
      <p:pic>
        <p:nvPicPr>
          <p:cNvPr id="4" name="Picture 3">
            <a:extLst>
              <a:ext uri="{FF2B5EF4-FFF2-40B4-BE49-F238E27FC236}">
                <a16:creationId xmlns:a16="http://schemas.microsoft.com/office/drawing/2014/main" id="{2394C316-B4F6-9A81-2434-7F6B994EA4F7}"/>
              </a:ext>
            </a:extLst>
          </p:cNvPr>
          <p:cNvPicPr>
            <a:picLocks noChangeAspect="1"/>
          </p:cNvPicPr>
          <p:nvPr/>
        </p:nvPicPr>
        <p:blipFill>
          <a:blip r:embed="rId4"/>
          <a:stretch>
            <a:fillRect/>
          </a:stretch>
        </p:blipFill>
        <p:spPr>
          <a:xfrm>
            <a:off x="7106652" y="440791"/>
            <a:ext cx="3416969" cy="2526998"/>
          </a:xfrm>
          <a:prstGeom prst="rect">
            <a:avLst/>
          </a:prstGeom>
        </p:spPr>
      </p:pic>
      <p:pic>
        <p:nvPicPr>
          <p:cNvPr id="8" name="Picture 7">
            <a:extLst>
              <a:ext uri="{FF2B5EF4-FFF2-40B4-BE49-F238E27FC236}">
                <a16:creationId xmlns:a16="http://schemas.microsoft.com/office/drawing/2014/main" id="{3B6B3FA3-7F07-CED3-1735-7C34F329BD80}"/>
              </a:ext>
            </a:extLst>
          </p:cNvPr>
          <p:cNvPicPr>
            <a:picLocks noChangeAspect="1"/>
          </p:cNvPicPr>
          <p:nvPr/>
        </p:nvPicPr>
        <p:blipFill>
          <a:blip r:embed="rId5"/>
          <a:stretch>
            <a:fillRect/>
          </a:stretch>
        </p:blipFill>
        <p:spPr>
          <a:xfrm>
            <a:off x="7106652" y="3429000"/>
            <a:ext cx="3529264" cy="2683042"/>
          </a:xfrm>
          <a:prstGeom prst="rect">
            <a:avLst/>
          </a:prstGeom>
        </p:spPr>
      </p:pic>
      <p:sp>
        <p:nvSpPr>
          <p:cNvPr id="9" name="Arrow: Right 8">
            <a:extLst>
              <a:ext uri="{FF2B5EF4-FFF2-40B4-BE49-F238E27FC236}">
                <a16:creationId xmlns:a16="http://schemas.microsoft.com/office/drawing/2014/main" id="{F9FFF2AC-9F08-6903-6B70-08C5CAABFED4}"/>
              </a:ext>
            </a:extLst>
          </p:cNvPr>
          <p:cNvSpPr/>
          <p:nvPr/>
        </p:nvSpPr>
        <p:spPr>
          <a:xfrm>
            <a:off x="5085349" y="3250531"/>
            <a:ext cx="1315453" cy="356937"/>
          </a:xfrm>
          <a:prstGeom prst="rightArrow">
            <a:avLst/>
          </a:prstGeom>
          <a:solidFill>
            <a:srgbClr val="0070C0"/>
          </a:solidFill>
          <a:ln>
            <a:solidFill>
              <a:srgbClr val="0070C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08112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3" name="Picture 2">
            <a:extLst>
              <a:ext uri="{FF2B5EF4-FFF2-40B4-BE49-F238E27FC236}">
                <a16:creationId xmlns:a16="http://schemas.microsoft.com/office/drawing/2014/main" id="{6C2F65C0-893F-497D-D9CA-6CA47780A33F}"/>
              </a:ext>
            </a:extLst>
          </p:cNvPr>
          <p:cNvPicPr>
            <a:picLocks noChangeAspect="1"/>
          </p:cNvPicPr>
          <p:nvPr/>
        </p:nvPicPr>
        <p:blipFill>
          <a:blip r:embed="rId3"/>
          <a:stretch>
            <a:fillRect/>
          </a:stretch>
        </p:blipFill>
        <p:spPr>
          <a:xfrm>
            <a:off x="721895" y="818147"/>
            <a:ext cx="9801726" cy="5197642"/>
          </a:xfrm>
          <a:prstGeom prst="rect">
            <a:avLst/>
          </a:prstGeom>
        </p:spPr>
      </p:pic>
      <p:sp>
        <p:nvSpPr>
          <p:cNvPr id="5" name="TextBox 4">
            <a:extLst>
              <a:ext uri="{FF2B5EF4-FFF2-40B4-BE49-F238E27FC236}">
                <a16:creationId xmlns:a16="http://schemas.microsoft.com/office/drawing/2014/main" id="{DF636E90-8181-35D3-C5CA-43CA2C0F8034}"/>
              </a:ext>
            </a:extLst>
          </p:cNvPr>
          <p:cNvSpPr txBox="1"/>
          <p:nvPr/>
        </p:nvSpPr>
        <p:spPr>
          <a:xfrm>
            <a:off x="7106652" y="5372436"/>
            <a:ext cx="3416969" cy="369332"/>
          </a:xfrm>
          <a:prstGeom prst="rect">
            <a:avLst/>
          </a:prstGeom>
          <a:noFill/>
        </p:spPr>
        <p:txBody>
          <a:bodyPr wrap="square" rtlCol="0">
            <a:spAutoFit/>
          </a:bodyPr>
          <a:lstStyle/>
          <a:p>
            <a:r>
              <a:rPr lang="en-US" sz="1800" dirty="0">
                <a:solidFill>
                  <a:schemeClr val="accent1"/>
                </a:solidFill>
              </a:rPr>
              <a:t>Transitivity</a:t>
            </a:r>
            <a:r>
              <a:rPr lang="en-US" sz="1600" dirty="0">
                <a:solidFill>
                  <a:schemeClr val="accent1"/>
                </a:solidFill>
              </a:rPr>
              <a:t>?</a:t>
            </a:r>
            <a:endParaRPr lang="en-IN" sz="1600" dirty="0">
              <a:solidFill>
                <a:schemeClr val="accent1"/>
              </a:solidFill>
            </a:endParaRPr>
          </a:p>
        </p:txBody>
      </p:sp>
    </p:spTree>
    <p:extLst>
      <p:ext uri="{BB962C8B-B14F-4D97-AF65-F5344CB8AC3E}">
        <p14:creationId xmlns:p14="http://schemas.microsoft.com/office/powerpoint/2010/main" val="3321684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3-NF</a:t>
            </a:r>
            <a:endParaRPr b="1" dirty="0">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D23C81D3-562E-C9FB-27DA-4AE6C0C7280E}"/>
              </a:ext>
            </a:extLst>
          </p:cNvPr>
          <p:cNvSpPr txBox="1"/>
          <p:nvPr/>
        </p:nvSpPr>
        <p:spPr>
          <a:xfrm>
            <a:off x="1098884" y="5566611"/>
            <a:ext cx="9312443" cy="338554"/>
          </a:xfrm>
          <a:prstGeom prst="rect">
            <a:avLst/>
          </a:prstGeom>
          <a:noFill/>
        </p:spPr>
        <p:txBody>
          <a:bodyPr wrap="square" rtlCol="0">
            <a:spAutoFit/>
          </a:bodyPr>
          <a:lstStyle/>
          <a:p>
            <a:r>
              <a:rPr lang="en-US" sz="1600" b="1" dirty="0">
                <a:solidFill>
                  <a:schemeClr val="accent5"/>
                </a:solidFill>
              </a:rPr>
              <a:t>Student ID </a:t>
            </a:r>
            <a:r>
              <a:rPr lang="en-US" sz="1600" b="1" dirty="0">
                <a:solidFill>
                  <a:schemeClr val="accent5"/>
                </a:solidFill>
                <a:sym typeface="Wingdings" panose="05000000000000000000" pitchFamily="2" charset="2"/>
              </a:rPr>
              <a:t> Subject ID  Subject    --- Transitive Dependency</a:t>
            </a:r>
            <a:endParaRPr lang="en-US" sz="1600" b="1" dirty="0">
              <a:solidFill>
                <a:schemeClr val="accent5"/>
              </a:solidFill>
            </a:endParaRPr>
          </a:p>
        </p:txBody>
      </p:sp>
      <p:pic>
        <p:nvPicPr>
          <p:cNvPr id="4" name="Picture 3">
            <a:extLst>
              <a:ext uri="{FF2B5EF4-FFF2-40B4-BE49-F238E27FC236}">
                <a16:creationId xmlns:a16="http://schemas.microsoft.com/office/drawing/2014/main" id="{0B69C7E1-8930-579B-9A0D-338BCEEBF6F5}"/>
              </a:ext>
            </a:extLst>
          </p:cNvPr>
          <p:cNvPicPr>
            <a:picLocks noChangeAspect="1"/>
          </p:cNvPicPr>
          <p:nvPr/>
        </p:nvPicPr>
        <p:blipFill>
          <a:blip r:embed="rId3"/>
          <a:stretch>
            <a:fillRect/>
          </a:stretch>
        </p:blipFill>
        <p:spPr>
          <a:xfrm>
            <a:off x="689812" y="1523999"/>
            <a:ext cx="9962146" cy="3753853"/>
          </a:xfrm>
          <a:prstGeom prst="rect">
            <a:avLst/>
          </a:prstGeom>
        </p:spPr>
      </p:pic>
    </p:spTree>
    <p:extLst>
      <p:ext uri="{BB962C8B-B14F-4D97-AF65-F5344CB8AC3E}">
        <p14:creationId xmlns:p14="http://schemas.microsoft.com/office/powerpoint/2010/main" val="2395457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3-NF - Decomposition</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BC33975-3B63-9D60-77DD-F5C48E3C0DCB}"/>
              </a:ext>
            </a:extLst>
          </p:cNvPr>
          <p:cNvPicPr>
            <a:picLocks noChangeAspect="1"/>
          </p:cNvPicPr>
          <p:nvPr/>
        </p:nvPicPr>
        <p:blipFill>
          <a:blip r:embed="rId3"/>
          <a:stretch>
            <a:fillRect/>
          </a:stretch>
        </p:blipFill>
        <p:spPr>
          <a:xfrm>
            <a:off x="641684" y="1235242"/>
            <a:ext cx="10515599" cy="5101390"/>
          </a:xfrm>
          <a:prstGeom prst="rect">
            <a:avLst/>
          </a:prstGeom>
        </p:spPr>
      </p:pic>
    </p:spTree>
    <p:extLst>
      <p:ext uri="{BB962C8B-B14F-4D97-AF65-F5344CB8AC3E}">
        <p14:creationId xmlns:p14="http://schemas.microsoft.com/office/powerpoint/2010/main" val="2462250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4" name="Picture 3">
            <a:extLst>
              <a:ext uri="{FF2B5EF4-FFF2-40B4-BE49-F238E27FC236}">
                <a16:creationId xmlns:a16="http://schemas.microsoft.com/office/drawing/2014/main" id="{6ECBADF0-5B4A-D431-29D7-BEE2FC170DA1}"/>
              </a:ext>
            </a:extLst>
          </p:cNvPr>
          <p:cNvPicPr>
            <a:picLocks noChangeAspect="1"/>
          </p:cNvPicPr>
          <p:nvPr/>
        </p:nvPicPr>
        <p:blipFill>
          <a:blip r:embed="rId3"/>
          <a:stretch>
            <a:fillRect/>
          </a:stretch>
        </p:blipFill>
        <p:spPr>
          <a:xfrm>
            <a:off x="561474" y="577516"/>
            <a:ext cx="10555705" cy="5582652"/>
          </a:xfrm>
          <a:prstGeom prst="rect">
            <a:avLst/>
          </a:prstGeom>
        </p:spPr>
      </p:pic>
    </p:spTree>
    <p:extLst>
      <p:ext uri="{BB962C8B-B14F-4D97-AF65-F5344CB8AC3E}">
        <p14:creationId xmlns:p14="http://schemas.microsoft.com/office/powerpoint/2010/main" val="1329703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BCNF</a:t>
            </a:r>
            <a:endParaRPr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7BEF8F-88C2-C425-E45B-609545E2F85D}"/>
              </a:ext>
            </a:extLst>
          </p:cNvPr>
          <p:cNvPicPr>
            <a:picLocks noChangeAspect="1"/>
          </p:cNvPicPr>
          <p:nvPr/>
        </p:nvPicPr>
        <p:blipFill>
          <a:blip r:embed="rId3"/>
          <a:stretch>
            <a:fillRect/>
          </a:stretch>
        </p:blipFill>
        <p:spPr>
          <a:xfrm>
            <a:off x="673768" y="1251284"/>
            <a:ext cx="10515600" cy="3256547"/>
          </a:xfrm>
          <a:prstGeom prst="rect">
            <a:avLst/>
          </a:prstGeom>
        </p:spPr>
      </p:pic>
      <p:sp>
        <p:nvSpPr>
          <p:cNvPr id="7" name="TextBox 6">
            <a:extLst>
              <a:ext uri="{FF2B5EF4-FFF2-40B4-BE49-F238E27FC236}">
                <a16:creationId xmlns:a16="http://schemas.microsoft.com/office/drawing/2014/main" id="{1916FD8B-CD72-8FE9-76D7-F37F5C772FAE}"/>
              </a:ext>
            </a:extLst>
          </p:cNvPr>
          <p:cNvSpPr txBox="1"/>
          <p:nvPr/>
        </p:nvSpPr>
        <p:spPr>
          <a:xfrm>
            <a:off x="673768" y="4862791"/>
            <a:ext cx="9208168" cy="1323439"/>
          </a:xfrm>
          <a:prstGeom prst="rect">
            <a:avLst/>
          </a:prstGeom>
          <a:noFill/>
        </p:spPr>
        <p:txBody>
          <a:bodyPr wrap="square" rtlCol="0">
            <a:spAutoFit/>
          </a:bodyPr>
          <a:lstStyle/>
          <a:p>
            <a:r>
              <a:rPr lang="en-US" sz="1600" dirty="0"/>
              <a:t>One student can enroll for multiple subjects, there can be multiple professors teaching one subject, For each subject professor has been assigned to the student.</a:t>
            </a:r>
          </a:p>
          <a:p>
            <a:endParaRPr lang="en-US" sz="1600" dirty="0"/>
          </a:p>
          <a:p>
            <a:r>
              <a:rPr lang="en-US" sz="1600" dirty="0"/>
              <a:t>Student ID and Subject are the PA here and Professor is NPA.</a:t>
            </a:r>
          </a:p>
          <a:p>
            <a:r>
              <a:rPr lang="en-US" sz="1600" dirty="0"/>
              <a:t>Professor </a:t>
            </a:r>
            <a:r>
              <a:rPr lang="en-US" sz="1600" dirty="0">
                <a:sym typeface="Wingdings" panose="05000000000000000000" pitchFamily="2" charset="2"/>
              </a:rPr>
              <a:t> Subject – Clear cut case for BCNF</a:t>
            </a:r>
            <a:endParaRPr lang="en-IN" sz="1600" dirty="0"/>
          </a:p>
        </p:txBody>
      </p:sp>
    </p:spTree>
    <p:extLst>
      <p:ext uri="{BB962C8B-B14F-4D97-AF65-F5344CB8AC3E}">
        <p14:creationId xmlns:p14="http://schemas.microsoft.com/office/powerpoint/2010/main" val="1356255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6" name="Google Shape;770;p83">
            <a:extLst>
              <a:ext uri="{FF2B5EF4-FFF2-40B4-BE49-F238E27FC236}">
                <a16:creationId xmlns:a16="http://schemas.microsoft.com/office/drawing/2014/main" id="{AE7C4CB5-5731-B9BE-BCC7-F1FB543352DA}"/>
              </a:ext>
            </a:extLst>
          </p:cNvPr>
          <p:cNvSpPr txBox="1">
            <a:spLocks noGrp="1"/>
          </p:cNvSpPr>
          <p:nvPr>
            <p:ph type="title"/>
          </p:nvPr>
        </p:nvSpPr>
        <p:spPr>
          <a:xfrm>
            <a:off x="818148" y="311549"/>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BCNF - Decomposition</a:t>
            </a:r>
            <a:endParaRPr b="1" dirty="0">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685DB899-3A3B-3492-3591-4377F0DCEFC1}"/>
              </a:ext>
            </a:extLst>
          </p:cNvPr>
          <p:cNvPicPr>
            <a:picLocks noChangeAspect="1"/>
          </p:cNvPicPr>
          <p:nvPr/>
        </p:nvPicPr>
        <p:blipFill>
          <a:blip r:embed="rId3"/>
          <a:stretch>
            <a:fillRect/>
          </a:stretch>
        </p:blipFill>
        <p:spPr>
          <a:xfrm>
            <a:off x="858252" y="1395661"/>
            <a:ext cx="7405301" cy="4796591"/>
          </a:xfrm>
          <a:prstGeom prst="rect">
            <a:avLst/>
          </a:prstGeom>
        </p:spPr>
      </p:pic>
      <p:sp>
        <p:nvSpPr>
          <p:cNvPr id="5" name="TextBox 4">
            <a:extLst>
              <a:ext uri="{FF2B5EF4-FFF2-40B4-BE49-F238E27FC236}">
                <a16:creationId xmlns:a16="http://schemas.microsoft.com/office/drawing/2014/main" id="{322E3A9D-CEA2-F050-C7EF-1D7E593563CB}"/>
              </a:ext>
            </a:extLst>
          </p:cNvPr>
          <p:cNvSpPr txBox="1"/>
          <p:nvPr/>
        </p:nvSpPr>
        <p:spPr>
          <a:xfrm>
            <a:off x="8694821" y="1251284"/>
            <a:ext cx="2999874" cy="2970044"/>
          </a:xfrm>
          <a:prstGeom prst="rect">
            <a:avLst/>
          </a:prstGeom>
          <a:noFill/>
        </p:spPr>
        <p:txBody>
          <a:bodyPr wrap="square" rtlCol="0">
            <a:spAutoFit/>
          </a:bodyPr>
          <a:lstStyle/>
          <a:p>
            <a:r>
              <a:rPr lang="en-US" sz="1700" dirty="0">
                <a:solidFill>
                  <a:schemeClr val="accent1"/>
                </a:solidFill>
              </a:rPr>
              <a:t>Why we added new column as Professor ID?</a:t>
            </a:r>
          </a:p>
          <a:p>
            <a:endParaRPr lang="en-US" sz="1700" dirty="0">
              <a:solidFill>
                <a:schemeClr val="accent1"/>
              </a:solidFill>
            </a:endParaRPr>
          </a:p>
          <a:p>
            <a:pPr marL="342900" indent="-342900">
              <a:buAutoNum type="arabicPeriod"/>
            </a:pPr>
            <a:r>
              <a:rPr lang="en-US" sz="1700" dirty="0">
                <a:solidFill>
                  <a:schemeClr val="accent1"/>
                </a:solidFill>
              </a:rPr>
              <a:t>By doing this we are removing the NPA </a:t>
            </a:r>
            <a:r>
              <a:rPr lang="en-US" sz="1700" dirty="0">
                <a:solidFill>
                  <a:schemeClr val="accent1"/>
                </a:solidFill>
                <a:sym typeface="Wingdings" panose="05000000000000000000" pitchFamily="2" charset="2"/>
              </a:rPr>
              <a:t> PA dependency.</a:t>
            </a:r>
          </a:p>
          <a:p>
            <a:pPr marL="342900" indent="-342900">
              <a:buAutoNum type="arabicPeriod"/>
            </a:pPr>
            <a:r>
              <a:rPr lang="en-US" sz="1700" dirty="0">
                <a:solidFill>
                  <a:schemeClr val="accent1"/>
                </a:solidFill>
                <a:sym typeface="Wingdings" panose="05000000000000000000" pitchFamily="2" charset="2"/>
              </a:rPr>
              <a:t>Professor ID will be the primary key or super key for the second table for identifying the records uniquely.</a:t>
            </a:r>
            <a:endParaRPr lang="en-IN" sz="1700" dirty="0">
              <a:solidFill>
                <a:schemeClr val="accent1"/>
              </a:solidFill>
            </a:endParaRPr>
          </a:p>
        </p:txBody>
      </p:sp>
    </p:spTree>
    <p:extLst>
      <p:ext uri="{BB962C8B-B14F-4D97-AF65-F5344CB8AC3E}">
        <p14:creationId xmlns:p14="http://schemas.microsoft.com/office/powerpoint/2010/main" val="3095490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85"/>
          <p:cNvSpPr txBox="1">
            <a:spLocks noGrp="1"/>
          </p:cNvSpPr>
          <p:nvPr>
            <p:ph type="title"/>
          </p:nvPr>
        </p:nvSpPr>
        <p:spPr>
          <a:xfrm>
            <a:off x="838200" y="365125"/>
            <a:ext cx="10515600" cy="10841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Normalization</a:t>
            </a:r>
            <a:endParaRPr b="1">
              <a:latin typeface="Times New Roman"/>
              <a:ea typeface="Times New Roman"/>
              <a:cs typeface="Times New Roman"/>
              <a:sym typeface="Times New Roman"/>
            </a:endParaRPr>
          </a:p>
        </p:txBody>
      </p:sp>
      <p:sp>
        <p:nvSpPr>
          <p:cNvPr id="783" name="Google Shape;783;p85"/>
          <p:cNvSpPr txBox="1">
            <a:spLocks noGrp="1"/>
          </p:cNvSpPr>
          <p:nvPr>
            <p:ph type="body" idx="1"/>
          </p:nvPr>
        </p:nvSpPr>
        <p:spPr>
          <a:xfrm>
            <a:off x="838200" y="1449238"/>
            <a:ext cx="10515600" cy="472772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400"/>
              <a:buChar char="•"/>
            </a:pPr>
            <a:r>
              <a:rPr lang="en-US" sz="2400" b="1" u="sng" dirty="0"/>
              <a:t>Tips and Tricks: </a:t>
            </a:r>
            <a:r>
              <a:rPr lang="en-US" sz="2400" dirty="0"/>
              <a:t>How to identify quickly that relation is in which form.</a:t>
            </a:r>
            <a:endParaRPr dirty="0"/>
          </a:p>
          <a:p>
            <a:pPr marL="228600" lvl="0" indent="-228600" algn="just" rtl="0">
              <a:lnSpc>
                <a:spcPct val="90000"/>
              </a:lnSpc>
              <a:spcBef>
                <a:spcPts val="1000"/>
              </a:spcBef>
              <a:spcAft>
                <a:spcPts val="0"/>
              </a:spcAft>
              <a:buClr>
                <a:schemeClr val="dk1"/>
              </a:buClr>
              <a:buSzPts val="2400"/>
              <a:buChar char="•"/>
            </a:pPr>
            <a:r>
              <a:rPr lang="en-US" sz="2400" dirty="0"/>
              <a:t>2NF (when is it not): if there is dependency from X -&gt; Y</a:t>
            </a:r>
            <a:endParaRPr dirty="0"/>
          </a:p>
          <a:p>
            <a:pPr marL="0" lvl="0" indent="0" algn="just" rtl="0">
              <a:lnSpc>
                <a:spcPct val="90000"/>
              </a:lnSpc>
              <a:spcBef>
                <a:spcPts val="1000"/>
              </a:spcBef>
              <a:spcAft>
                <a:spcPts val="0"/>
              </a:spcAft>
              <a:buClr>
                <a:schemeClr val="dk1"/>
              </a:buClr>
              <a:buSzPts val="2400"/>
              <a:buNone/>
            </a:pPr>
            <a:r>
              <a:rPr lang="en-US" sz="2400" dirty="0"/>
              <a:t>             </a:t>
            </a:r>
            <a:r>
              <a:rPr lang="en-US" sz="2400" dirty="0">
                <a:solidFill>
                  <a:srgbClr val="2E75B5"/>
                </a:solidFill>
              </a:rPr>
              <a:t>(X is a subset of candidate key  AND  Y is non-prime attribute) – then R is not 	in 2NF</a:t>
            </a:r>
            <a:endParaRPr dirty="0"/>
          </a:p>
          <a:p>
            <a:pPr marL="228600" lvl="0" indent="-228600" algn="just" rtl="0">
              <a:lnSpc>
                <a:spcPct val="90000"/>
              </a:lnSpc>
              <a:spcBef>
                <a:spcPts val="1000"/>
              </a:spcBef>
              <a:spcAft>
                <a:spcPts val="0"/>
              </a:spcAft>
              <a:buClr>
                <a:schemeClr val="dk1"/>
              </a:buClr>
              <a:buSzPts val="2400"/>
              <a:buChar char="•"/>
            </a:pPr>
            <a:r>
              <a:rPr lang="en-US" sz="2400" dirty="0"/>
              <a:t>3NF (when is it): if there is a dependency from X -&gt; Y</a:t>
            </a:r>
            <a:endParaRPr dirty="0"/>
          </a:p>
          <a:p>
            <a:pPr marL="0" lvl="0" indent="0" algn="just" rtl="0">
              <a:lnSpc>
                <a:spcPct val="90000"/>
              </a:lnSpc>
              <a:spcBef>
                <a:spcPts val="1000"/>
              </a:spcBef>
              <a:spcAft>
                <a:spcPts val="0"/>
              </a:spcAft>
              <a:buClr>
                <a:schemeClr val="dk1"/>
              </a:buClr>
              <a:buSzPts val="2400"/>
              <a:buNone/>
            </a:pPr>
            <a:r>
              <a:rPr lang="en-US" sz="2400" dirty="0"/>
              <a:t>	</a:t>
            </a:r>
            <a:r>
              <a:rPr lang="en-US" sz="2400" dirty="0">
                <a:solidFill>
                  <a:srgbClr val="2E75B5"/>
                </a:solidFill>
              </a:rPr>
              <a:t>(X is a super key or candidate key   OR  Y is a prime attribute)</a:t>
            </a:r>
            <a:endParaRPr dirty="0"/>
          </a:p>
          <a:p>
            <a:pPr marL="0" lvl="0" indent="0" algn="just" rtl="0">
              <a:lnSpc>
                <a:spcPct val="90000"/>
              </a:lnSpc>
              <a:spcBef>
                <a:spcPts val="1000"/>
              </a:spcBef>
              <a:spcAft>
                <a:spcPts val="0"/>
              </a:spcAft>
              <a:buClr>
                <a:srgbClr val="2E75B5"/>
              </a:buClr>
              <a:buSzPts val="2400"/>
              <a:buNone/>
            </a:pPr>
            <a:r>
              <a:rPr lang="en-US" sz="2400" dirty="0">
                <a:solidFill>
                  <a:srgbClr val="2E75B5"/>
                </a:solidFill>
              </a:rPr>
              <a:t>	(If all attributes comes out to be prime – R is in 3NF)</a:t>
            </a:r>
            <a:endParaRPr dirty="0"/>
          </a:p>
          <a:p>
            <a:pPr marL="0" lvl="0" indent="0" algn="just" rtl="0">
              <a:lnSpc>
                <a:spcPct val="90000"/>
              </a:lnSpc>
              <a:spcBef>
                <a:spcPts val="1000"/>
              </a:spcBef>
              <a:spcAft>
                <a:spcPts val="0"/>
              </a:spcAft>
              <a:buClr>
                <a:schemeClr val="dk1"/>
              </a:buClr>
              <a:buSzPts val="2400"/>
              <a:buNone/>
            </a:pPr>
            <a:endParaRPr sz="2400" dirty="0"/>
          </a:p>
          <a:p>
            <a:pPr marL="228600" lvl="0" indent="-228600" algn="just" rtl="0">
              <a:lnSpc>
                <a:spcPct val="90000"/>
              </a:lnSpc>
              <a:spcBef>
                <a:spcPts val="1000"/>
              </a:spcBef>
              <a:spcAft>
                <a:spcPts val="0"/>
              </a:spcAft>
              <a:buClr>
                <a:schemeClr val="dk1"/>
              </a:buClr>
              <a:buSzPts val="2400"/>
              <a:buChar char="•"/>
            </a:pPr>
            <a:r>
              <a:rPr lang="en-US" sz="2400" dirty="0"/>
              <a:t>BCNF (when is it): if there is a dependency from X -&gt; Y</a:t>
            </a:r>
            <a:endParaRPr dirty="0"/>
          </a:p>
          <a:p>
            <a:pPr marL="0" lvl="0" indent="0" algn="just" rtl="0">
              <a:lnSpc>
                <a:spcPct val="90000"/>
              </a:lnSpc>
              <a:spcBef>
                <a:spcPts val="1000"/>
              </a:spcBef>
              <a:spcAft>
                <a:spcPts val="0"/>
              </a:spcAft>
              <a:buClr>
                <a:schemeClr val="dk1"/>
              </a:buClr>
              <a:buSzPts val="2400"/>
              <a:buNone/>
            </a:pPr>
            <a:r>
              <a:rPr lang="en-US" sz="2400" dirty="0"/>
              <a:t>	</a:t>
            </a:r>
            <a:r>
              <a:rPr lang="en-US" sz="2400" dirty="0">
                <a:solidFill>
                  <a:srgbClr val="2E75B5"/>
                </a:solidFill>
              </a:rPr>
              <a:t>(X is super key or candidate key)</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86"/>
          <p:cNvSpPr txBox="1">
            <a:spLocks noGrp="1"/>
          </p:cNvSpPr>
          <p:nvPr>
            <p:ph type="title"/>
          </p:nvPr>
        </p:nvSpPr>
        <p:spPr>
          <a:xfrm>
            <a:off x="838200" y="365126"/>
            <a:ext cx="10515600" cy="73043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Practice Set</a:t>
            </a:r>
            <a:endParaRPr sz="3600" b="1">
              <a:latin typeface="Times New Roman"/>
              <a:ea typeface="Times New Roman"/>
              <a:cs typeface="Times New Roman"/>
              <a:sym typeface="Times New Roman"/>
            </a:endParaRPr>
          </a:p>
        </p:txBody>
      </p:sp>
      <p:sp>
        <p:nvSpPr>
          <p:cNvPr id="789" name="Google Shape;789;p86"/>
          <p:cNvSpPr txBox="1"/>
          <p:nvPr/>
        </p:nvSpPr>
        <p:spPr>
          <a:xfrm>
            <a:off x="682924" y="1380226"/>
            <a:ext cx="3354238" cy="1754326"/>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alibri"/>
              <a:buAutoNum type="arabicPeriod"/>
            </a:pPr>
            <a:r>
              <a:rPr lang="en-US" sz="1800" b="1" dirty="0">
                <a:solidFill>
                  <a:schemeClr val="dk1"/>
                </a:solidFill>
                <a:latin typeface="Calibri"/>
                <a:ea typeface="Calibri"/>
                <a:cs typeface="Calibri"/>
                <a:sym typeface="Calibri"/>
              </a:rPr>
              <a:t>Relation R(ABCDE) having dependencies as: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CE -&gt; D</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D -&gt;B</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C -&gt; A</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Highest normal form? C.K set?</a:t>
            </a:r>
            <a:endParaRPr sz="1800" dirty="0">
              <a:solidFill>
                <a:schemeClr val="dk1"/>
              </a:solidFill>
              <a:latin typeface="Calibri"/>
              <a:ea typeface="Calibri"/>
              <a:cs typeface="Calibri"/>
              <a:sym typeface="Calibri"/>
            </a:endParaRPr>
          </a:p>
        </p:txBody>
      </p:sp>
      <p:sp>
        <p:nvSpPr>
          <p:cNvPr id="790" name="Google Shape;790;p86"/>
          <p:cNvSpPr txBox="1"/>
          <p:nvPr/>
        </p:nvSpPr>
        <p:spPr>
          <a:xfrm>
            <a:off x="838200" y="4036496"/>
            <a:ext cx="3354238"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2.   </a:t>
            </a:r>
            <a:r>
              <a:rPr lang="en-US" sz="1800" b="1" dirty="0">
                <a:solidFill>
                  <a:schemeClr val="dk1"/>
                </a:solidFill>
                <a:latin typeface="Calibri"/>
                <a:ea typeface="Calibri"/>
                <a:cs typeface="Calibri"/>
                <a:sym typeface="Calibri"/>
              </a:rPr>
              <a:t>Relation R(ABCDEF) having dependencies as: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AB -&gt; C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DC -&gt; AE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E -&gt; F</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Highest normal form? C.K set?</a:t>
            </a:r>
            <a:endParaRPr sz="1800" dirty="0">
              <a:solidFill>
                <a:schemeClr val="dk1"/>
              </a:solidFill>
              <a:latin typeface="Calibri"/>
              <a:ea typeface="Calibri"/>
              <a:cs typeface="Calibri"/>
              <a:sym typeface="Calibri"/>
            </a:endParaRPr>
          </a:p>
        </p:txBody>
      </p:sp>
      <p:sp>
        <p:nvSpPr>
          <p:cNvPr id="791" name="Google Shape;791;p86"/>
          <p:cNvSpPr txBox="1"/>
          <p:nvPr/>
        </p:nvSpPr>
        <p:spPr>
          <a:xfrm>
            <a:off x="4496519" y="1380226"/>
            <a:ext cx="3354238"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3.   </a:t>
            </a:r>
            <a:r>
              <a:rPr lang="en-US" sz="1800" b="1" dirty="0">
                <a:solidFill>
                  <a:schemeClr val="dk1"/>
                </a:solidFill>
                <a:latin typeface="Calibri"/>
                <a:ea typeface="Calibri"/>
                <a:cs typeface="Calibri"/>
                <a:sym typeface="Calibri"/>
              </a:rPr>
              <a:t>Relation R(ABCDEFGHI) having dependencies as: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AB -&gt; C</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BD -&gt; EF</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AD -&gt; GH</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 -&gt; I</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Highest normal form? C.K set?</a:t>
            </a:r>
            <a:endParaRPr sz="1800" dirty="0">
              <a:solidFill>
                <a:schemeClr val="dk1"/>
              </a:solidFill>
              <a:latin typeface="Calibri"/>
              <a:ea typeface="Calibri"/>
              <a:cs typeface="Calibri"/>
              <a:sym typeface="Calibri"/>
            </a:endParaRPr>
          </a:p>
        </p:txBody>
      </p:sp>
      <p:sp>
        <p:nvSpPr>
          <p:cNvPr id="792" name="Google Shape;792;p86"/>
          <p:cNvSpPr txBox="1"/>
          <p:nvPr/>
        </p:nvSpPr>
        <p:spPr>
          <a:xfrm>
            <a:off x="4496519" y="4036496"/>
            <a:ext cx="3354238"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4.   </a:t>
            </a:r>
            <a:r>
              <a:rPr lang="en-US" sz="1800" b="1" dirty="0">
                <a:solidFill>
                  <a:schemeClr val="dk1"/>
                </a:solidFill>
                <a:latin typeface="Calibri"/>
                <a:ea typeface="Calibri"/>
                <a:cs typeface="Calibri"/>
                <a:sym typeface="Calibri"/>
              </a:rPr>
              <a:t>Relation R(ABCDE) having dependencies as: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AB -&gt; CD</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D -&gt; A</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BC -&gt; DE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Highest normal form? C.K set?</a:t>
            </a:r>
            <a:endParaRPr sz="1800" dirty="0">
              <a:solidFill>
                <a:schemeClr val="dk1"/>
              </a:solidFill>
              <a:latin typeface="Calibri"/>
              <a:ea typeface="Calibri"/>
              <a:cs typeface="Calibri"/>
              <a:sym typeface="Calibri"/>
            </a:endParaRPr>
          </a:p>
        </p:txBody>
      </p:sp>
      <p:sp>
        <p:nvSpPr>
          <p:cNvPr id="793" name="Google Shape;793;p86"/>
          <p:cNvSpPr txBox="1"/>
          <p:nvPr/>
        </p:nvSpPr>
        <p:spPr>
          <a:xfrm>
            <a:off x="8154838" y="1380226"/>
            <a:ext cx="3354238"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5.   </a:t>
            </a:r>
            <a:r>
              <a:rPr lang="en-US" sz="1800" b="1">
                <a:solidFill>
                  <a:schemeClr val="dk1"/>
                </a:solidFill>
                <a:latin typeface="Calibri"/>
                <a:ea typeface="Calibri"/>
                <a:cs typeface="Calibri"/>
                <a:sym typeface="Calibri"/>
              </a:rPr>
              <a:t>Relation R(ABCDE) having dependencies as: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BC -&gt; ADE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D -&gt; 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Highest normal form? C.K set?</a:t>
            </a:r>
            <a:endParaRPr sz="1800">
              <a:solidFill>
                <a:schemeClr val="dk1"/>
              </a:solidFill>
              <a:latin typeface="Calibri"/>
              <a:ea typeface="Calibri"/>
              <a:cs typeface="Calibri"/>
              <a:sym typeface="Calibri"/>
            </a:endParaRPr>
          </a:p>
        </p:txBody>
      </p:sp>
      <p:sp>
        <p:nvSpPr>
          <p:cNvPr id="794" name="Google Shape;794;p86"/>
          <p:cNvSpPr txBox="1"/>
          <p:nvPr/>
        </p:nvSpPr>
        <p:spPr>
          <a:xfrm>
            <a:off x="8154838" y="4036496"/>
            <a:ext cx="3354238"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6.   </a:t>
            </a:r>
            <a:r>
              <a:rPr lang="en-US" sz="1800" b="1">
                <a:solidFill>
                  <a:schemeClr val="dk1"/>
                </a:solidFill>
                <a:latin typeface="Calibri"/>
                <a:ea typeface="Calibri"/>
                <a:cs typeface="Calibri"/>
                <a:sym typeface="Calibri"/>
              </a:rPr>
              <a:t>Relation R(ABC) having dependencies as: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 -&gt; 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B -&gt; 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 -&gt; 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Highest normal form? C.K set?</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87"/>
          <p:cNvSpPr txBox="1">
            <a:spLocks noGrp="1"/>
          </p:cNvSpPr>
          <p:nvPr>
            <p:ph type="title"/>
          </p:nvPr>
        </p:nvSpPr>
        <p:spPr>
          <a:xfrm>
            <a:off x="838200" y="365125"/>
            <a:ext cx="10515600" cy="7908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a:t>
            </a:r>
            <a:endParaRPr sz="3600" b="1">
              <a:latin typeface="Times New Roman"/>
              <a:ea typeface="Times New Roman"/>
              <a:cs typeface="Times New Roman"/>
              <a:sym typeface="Times New Roman"/>
            </a:endParaRPr>
          </a:p>
        </p:txBody>
      </p:sp>
      <p:sp>
        <p:nvSpPr>
          <p:cNvPr id="800" name="Google Shape;800;p87"/>
          <p:cNvSpPr txBox="1"/>
          <p:nvPr/>
        </p:nvSpPr>
        <p:spPr>
          <a:xfrm>
            <a:off x="767751" y="1291087"/>
            <a:ext cx="10586052" cy="5201788"/>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1. The task is to design Student Performance Analysis System for a university, focusing on analyzing and evaluating student grades across courses. The system will track student names, course numbers, registration numbers, and grades. Functional dependencies include student name and course number determining grade, as well as registration number and course number determining grade. Additionally, student name determines registration number, and registration number determines student name. Identify the highest normal form for minimal redundancy by listing all the prime and non-prime attributes.</a:t>
            </a:r>
            <a:endParaRPr/>
          </a:p>
          <a:p>
            <a:pPr marL="0" marR="0" lvl="0" indent="0" algn="just" rtl="0">
              <a:lnSpc>
                <a:spcPct val="90000"/>
              </a:lnSpc>
              <a:spcBef>
                <a:spcPts val="100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88"/>
          <p:cNvSpPr txBox="1">
            <a:spLocks noGrp="1"/>
          </p:cNvSpPr>
          <p:nvPr>
            <p:ph type="title"/>
          </p:nvPr>
        </p:nvSpPr>
        <p:spPr>
          <a:xfrm>
            <a:off x="838200" y="365125"/>
            <a:ext cx="10515600" cy="7908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a:t>
            </a:r>
            <a:endParaRPr sz="3600" b="1">
              <a:latin typeface="Times New Roman"/>
              <a:ea typeface="Times New Roman"/>
              <a:cs typeface="Times New Roman"/>
              <a:sym typeface="Times New Roman"/>
            </a:endParaRPr>
          </a:p>
        </p:txBody>
      </p:sp>
      <p:sp>
        <p:nvSpPr>
          <p:cNvPr id="806" name="Google Shape;806;p88"/>
          <p:cNvSpPr txBox="1">
            <a:spLocks noGrp="1"/>
          </p:cNvSpPr>
          <p:nvPr>
            <p:ph type="body" idx="1"/>
          </p:nvPr>
        </p:nvSpPr>
        <p:spPr>
          <a:xfrm>
            <a:off x="838200" y="1449238"/>
            <a:ext cx="9772291" cy="4727725"/>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r>
              <a:rPr lang="en-US" sz="2400" dirty="0"/>
              <a:t>2. Consider a relation P having fields as F1, F2, F3, F4, F5 with the functional dependencies as follows:</a:t>
            </a:r>
            <a:endParaRPr dirty="0"/>
          </a:p>
          <a:p>
            <a:pPr marL="0" lvl="0" indent="0" algn="just" rtl="0">
              <a:lnSpc>
                <a:spcPct val="90000"/>
              </a:lnSpc>
              <a:spcBef>
                <a:spcPts val="1000"/>
              </a:spcBef>
              <a:spcAft>
                <a:spcPts val="0"/>
              </a:spcAft>
              <a:buClr>
                <a:schemeClr val="dk1"/>
              </a:buClr>
              <a:buSzPts val="2400"/>
              <a:buNone/>
            </a:pPr>
            <a:r>
              <a:rPr lang="en-US" sz="2400" dirty="0"/>
              <a:t> 	F1 -&gt; F3</a:t>
            </a:r>
            <a:endParaRPr dirty="0"/>
          </a:p>
          <a:p>
            <a:pPr marL="0" lvl="0" indent="0" algn="just" rtl="0">
              <a:lnSpc>
                <a:spcPct val="90000"/>
              </a:lnSpc>
              <a:spcBef>
                <a:spcPts val="1000"/>
              </a:spcBef>
              <a:spcAft>
                <a:spcPts val="0"/>
              </a:spcAft>
              <a:buClr>
                <a:schemeClr val="dk1"/>
              </a:buClr>
              <a:buSzPts val="2400"/>
              <a:buNone/>
            </a:pPr>
            <a:r>
              <a:rPr lang="en-US" sz="2400" dirty="0"/>
              <a:t>	F2 -&gt; F4</a:t>
            </a:r>
            <a:endParaRPr dirty="0"/>
          </a:p>
          <a:p>
            <a:pPr marL="0" lvl="0" indent="0" algn="just" rtl="0">
              <a:lnSpc>
                <a:spcPct val="90000"/>
              </a:lnSpc>
              <a:spcBef>
                <a:spcPts val="1000"/>
              </a:spcBef>
              <a:spcAft>
                <a:spcPts val="0"/>
              </a:spcAft>
              <a:buClr>
                <a:schemeClr val="dk1"/>
              </a:buClr>
              <a:buSzPts val="2400"/>
              <a:buNone/>
            </a:pPr>
            <a:r>
              <a:rPr lang="en-US" sz="2400" dirty="0"/>
              <a:t>	(F1,F2) -&gt; F5</a:t>
            </a:r>
            <a:endParaRPr dirty="0"/>
          </a:p>
          <a:p>
            <a:pPr marL="0" lvl="0" indent="0" algn="just" rtl="0">
              <a:lnSpc>
                <a:spcPct val="90000"/>
              </a:lnSpc>
              <a:spcBef>
                <a:spcPts val="1000"/>
              </a:spcBef>
              <a:spcAft>
                <a:spcPts val="0"/>
              </a:spcAft>
              <a:buClr>
                <a:schemeClr val="dk1"/>
              </a:buClr>
              <a:buSzPts val="2400"/>
              <a:buNone/>
            </a:pPr>
            <a:r>
              <a:rPr lang="en-US" sz="2400" dirty="0"/>
              <a:t>In terms of normalization, this table is in which normal form. Describe the prime and non-prime attributes for the relation P.</a:t>
            </a:r>
            <a:endParaRPr dirty="0"/>
          </a:p>
          <a:p>
            <a:pPr marL="0" lvl="0" indent="0" algn="just" rtl="0">
              <a:lnSpc>
                <a:spcPct val="90000"/>
              </a:lnSpc>
              <a:spcBef>
                <a:spcPts val="1000"/>
              </a:spcBef>
              <a:spcAft>
                <a:spcPts val="0"/>
              </a:spcAft>
              <a:buClr>
                <a:schemeClr val="dk1"/>
              </a:buClr>
              <a:buSzPts val="2400"/>
              <a:buNone/>
            </a:pPr>
            <a:endParaRPr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89"/>
          <p:cNvSpPr txBox="1">
            <a:spLocks noGrp="1"/>
          </p:cNvSpPr>
          <p:nvPr>
            <p:ph type="title"/>
          </p:nvPr>
        </p:nvSpPr>
        <p:spPr>
          <a:xfrm>
            <a:off x="838200" y="365125"/>
            <a:ext cx="10515600" cy="7908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a:t>
            </a:r>
            <a:endParaRPr sz="3600" b="1">
              <a:latin typeface="Times New Roman"/>
              <a:ea typeface="Times New Roman"/>
              <a:cs typeface="Times New Roman"/>
              <a:sym typeface="Times New Roman"/>
            </a:endParaRPr>
          </a:p>
        </p:txBody>
      </p:sp>
      <p:sp>
        <p:nvSpPr>
          <p:cNvPr id="812" name="Google Shape;812;p89"/>
          <p:cNvSpPr txBox="1"/>
          <p:nvPr/>
        </p:nvSpPr>
        <p:spPr>
          <a:xfrm>
            <a:off x="767751" y="1291087"/>
            <a:ext cx="10586052" cy="5201788"/>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3. DBA of a university information management system wants to remove redundancy by considering the following dependencies and relation R(R_N, Name, Dob, Age) for the system. For better optimization of database, he needs to normalize the database by identifying the relevant CK keys and normal form.</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Dob -&gt;Age</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Name -&gt;Rno</a:t>
            </a:r>
            <a:endParaRPr sz="2400">
              <a:solidFill>
                <a:schemeClr val="dk1"/>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Age -&gt; Eligibility</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Rno -&gt; Name</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C_N -&gt; Cname</a:t>
            </a:r>
            <a:endParaRPr sz="2400">
              <a:solidFill>
                <a:schemeClr val="dk1"/>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C_N -&gt; Instructor</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(R_N, C_N) -&gt; Grade</a:t>
            </a:r>
            <a:endParaRPr/>
          </a:p>
          <a:p>
            <a:pPr marL="0" marR="0" lvl="0" indent="0" algn="just" rtl="0">
              <a:lnSpc>
                <a:spcPct val="90000"/>
              </a:lnSpc>
              <a:spcBef>
                <a:spcPts val="100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90"/>
          <p:cNvSpPr txBox="1">
            <a:spLocks noGrp="1"/>
          </p:cNvSpPr>
          <p:nvPr>
            <p:ph type="title"/>
          </p:nvPr>
        </p:nvSpPr>
        <p:spPr>
          <a:xfrm>
            <a:off x="838200" y="365125"/>
            <a:ext cx="10515600" cy="7908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Decomposition of Tables</a:t>
            </a:r>
            <a:endParaRPr sz="3600" b="1">
              <a:latin typeface="Times New Roman"/>
              <a:ea typeface="Times New Roman"/>
              <a:cs typeface="Times New Roman"/>
              <a:sym typeface="Times New Roman"/>
            </a:endParaRPr>
          </a:p>
        </p:txBody>
      </p:sp>
      <p:sp>
        <p:nvSpPr>
          <p:cNvPr id="818" name="Google Shape;818;p90"/>
          <p:cNvSpPr txBox="1"/>
          <p:nvPr/>
        </p:nvSpPr>
        <p:spPr>
          <a:xfrm>
            <a:off x="767751" y="1291087"/>
            <a:ext cx="10586052" cy="5201788"/>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graphicFrame>
        <p:nvGraphicFramePr>
          <p:cNvPr id="819" name="Google Shape;819;p90"/>
          <p:cNvGraphicFramePr/>
          <p:nvPr/>
        </p:nvGraphicFramePr>
        <p:xfrm>
          <a:off x="1238369" y="2212036"/>
          <a:ext cx="2376075" cy="3041275"/>
        </p:xfrm>
        <a:graphic>
          <a:graphicData uri="http://schemas.openxmlformats.org/drawingml/2006/table">
            <a:tbl>
              <a:tblPr firstRow="1" bandRow="1">
                <a:noFill/>
              </a:tblPr>
              <a:tblGrid>
                <a:gridCol w="792025">
                  <a:extLst>
                    <a:ext uri="{9D8B030D-6E8A-4147-A177-3AD203B41FA5}">
                      <a16:colId xmlns:a16="http://schemas.microsoft.com/office/drawing/2014/main" val="20000"/>
                    </a:ext>
                  </a:extLst>
                </a:gridCol>
                <a:gridCol w="792025">
                  <a:extLst>
                    <a:ext uri="{9D8B030D-6E8A-4147-A177-3AD203B41FA5}">
                      <a16:colId xmlns:a16="http://schemas.microsoft.com/office/drawing/2014/main" val="20001"/>
                    </a:ext>
                  </a:extLst>
                </a:gridCol>
                <a:gridCol w="792025">
                  <a:extLst>
                    <a:ext uri="{9D8B030D-6E8A-4147-A177-3AD203B41FA5}">
                      <a16:colId xmlns:a16="http://schemas.microsoft.com/office/drawing/2014/main" val="20002"/>
                    </a:ext>
                  </a:extLst>
                </a:gridCol>
              </a:tblGrid>
              <a:tr h="43022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extLst>
                  <a:ext uri="{0D108BD9-81ED-4DB2-BD59-A6C34878D82A}">
                    <a16:rowId xmlns:a16="http://schemas.microsoft.com/office/drawing/2014/main" val="10000"/>
                  </a:ext>
                </a:extLst>
              </a:tr>
              <a:tr h="4351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x</a:t>
                      </a:r>
                      <a:endParaRPr sz="1800"/>
                    </a:p>
                  </a:txBody>
                  <a:tcPr marL="91450" marR="91450" marT="45725" marB="45725"/>
                </a:tc>
                <a:extLst>
                  <a:ext uri="{0D108BD9-81ED-4DB2-BD59-A6C34878D82A}">
                    <a16:rowId xmlns:a16="http://schemas.microsoft.com/office/drawing/2014/main" val="10001"/>
                  </a:ext>
                </a:extLst>
              </a:tr>
              <a:tr h="435175">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y</a:t>
                      </a:r>
                      <a:endParaRPr sz="1800"/>
                    </a:p>
                  </a:txBody>
                  <a:tcPr marL="91450" marR="91450" marT="45725" marB="45725"/>
                </a:tc>
                <a:extLst>
                  <a:ext uri="{0D108BD9-81ED-4DB2-BD59-A6C34878D82A}">
                    <a16:rowId xmlns:a16="http://schemas.microsoft.com/office/drawing/2014/main" val="10002"/>
                  </a:ext>
                </a:extLst>
              </a:tr>
              <a:tr h="435175">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z</a:t>
                      </a:r>
                      <a:endParaRPr sz="1800"/>
                    </a:p>
                  </a:txBody>
                  <a:tcPr marL="91450" marR="91450" marT="45725" marB="45725"/>
                </a:tc>
                <a:extLst>
                  <a:ext uri="{0D108BD9-81ED-4DB2-BD59-A6C34878D82A}">
                    <a16:rowId xmlns:a16="http://schemas.microsoft.com/office/drawing/2014/main" val="10003"/>
                  </a:ext>
                </a:extLst>
              </a:tr>
              <a:tr h="435175">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z</a:t>
                      </a:r>
                      <a:endParaRPr sz="1800"/>
                    </a:p>
                  </a:txBody>
                  <a:tcPr marL="91450" marR="91450" marT="45725" marB="45725"/>
                </a:tc>
                <a:extLst>
                  <a:ext uri="{0D108BD9-81ED-4DB2-BD59-A6C34878D82A}">
                    <a16:rowId xmlns:a16="http://schemas.microsoft.com/office/drawing/2014/main" val="10004"/>
                  </a:ext>
                </a:extLst>
              </a:tr>
              <a:tr h="435175">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z</a:t>
                      </a:r>
                      <a:endParaRPr sz="1800"/>
                    </a:p>
                  </a:txBody>
                  <a:tcPr marL="91450" marR="91450" marT="45725" marB="45725"/>
                </a:tc>
                <a:extLst>
                  <a:ext uri="{0D108BD9-81ED-4DB2-BD59-A6C34878D82A}">
                    <a16:rowId xmlns:a16="http://schemas.microsoft.com/office/drawing/2014/main" val="10005"/>
                  </a:ext>
                </a:extLst>
              </a:tr>
              <a:tr h="435175">
                <a:tc>
                  <a:txBody>
                    <a:bodyPr/>
                    <a:lstStyle/>
                    <a:p>
                      <a:pPr marL="0" marR="0" lvl="0" indent="0" algn="l" rtl="0">
                        <a:spcBef>
                          <a:spcPts val="0"/>
                        </a:spcBef>
                        <a:spcAft>
                          <a:spcPts val="0"/>
                        </a:spcAft>
                        <a:buNone/>
                      </a:pPr>
                      <a:r>
                        <a:rPr lang="en-US" sz="1800"/>
                        <a:t>e</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z</a:t>
                      </a:r>
                      <a:endParaRPr sz="1800"/>
                    </a:p>
                  </a:txBody>
                  <a:tcPr marL="91450" marR="91450" marT="45725" marB="45725"/>
                </a:tc>
                <a:extLst>
                  <a:ext uri="{0D108BD9-81ED-4DB2-BD59-A6C34878D82A}">
                    <a16:rowId xmlns:a16="http://schemas.microsoft.com/office/drawing/2014/main" val="10006"/>
                  </a:ext>
                </a:extLst>
              </a:tr>
            </a:tbl>
          </a:graphicData>
        </a:graphic>
      </p:graphicFrame>
      <p:graphicFrame>
        <p:nvGraphicFramePr>
          <p:cNvPr id="820" name="Google Shape;820;p90"/>
          <p:cNvGraphicFramePr/>
          <p:nvPr/>
        </p:nvGraphicFramePr>
        <p:xfrm>
          <a:off x="5429132" y="1338502"/>
          <a:ext cx="1867150" cy="2590870"/>
        </p:xfrm>
        <a:graphic>
          <a:graphicData uri="http://schemas.openxmlformats.org/drawingml/2006/table">
            <a:tbl>
              <a:tblPr firstRow="1" bandRow="1">
                <a:noFill/>
              </a:tblPr>
              <a:tblGrid>
                <a:gridCol w="933575">
                  <a:extLst>
                    <a:ext uri="{9D8B030D-6E8A-4147-A177-3AD203B41FA5}">
                      <a16:colId xmlns:a16="http://schemas.microsoft.com/office/drawing/2014/main" val="20000"/>
                    </a:ext>
                  </a:extLst>
                </a:gridCol>
                <a:gridCol w="933575">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t>e</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extLst>
                  <a:ext uri="{0D108BD9-81ED-4DB2-BD59-A6C34878D82A}">
                    <a16:rowId xmlns:a16="http://schemas.microsoft.com/office/drawing/2014/main" val="10006"/>
                  </a:ext>
                </a:extLst>
              </a:tr>
            </a:tbl>
          </a:graphicData>
        </a:graphic>
      </p:graphicFrame>
      <p:graphicFrame>
        <p:nvGraphicFramePr>
          <p:cNvPr id="821" name="Google Shape;821;p90"/>
          <p:cNvGraphicFramePr/>
          <p:nvPr/>
        </p:nvGraphicFramePr>
        <p:xfrm>
          <a:off x="5429132" y="4504455"/>
          <a:ext cx="1867150" cy="1801500"/>
        </p:xfrm>
        <a:graphic>
          <a:graphicData uri="http://schemas.openxmlformats.org/drawingml/2006/table">
            <a:tbl>
              <a:tblPr firstRow="1" bandRow="1">
                <a:noFill/>
              </a:tblPr>
              <a:tblGrid>
                <a:gridCol w="933575">
                  <a:extLst>
                    <a:ext uri="{9D8B030D-6E8A-4147-A177-3AD203B41FA5}">
                      <a16:colId xmlns:a16="http://schemas.microsoft.com/office/drawing/2014/main" val="20000"/>
                    </a:ext>
                  </a:extLst>
                </a:gridCol>
                <a:gridCol w="933575">
                  <a:extLst>
                    <a:ext uri="{9D8B030D-6E8A-4147-A177-3AD203B41FA5}">
                      <a16:colId xmlns:a16="http://schemas.microsoft.com/office/drawing/2014/main" val="20001"/>
                    </a:ext>
                  </a:extLst>
                </a:gridCol>
              </a:tblGrid>
              <a:tr h="450375">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extLst>
                  <a:ext uri="{0D108BD9-81ED-4DB2-BD59-A6C34878D82A}">
                    <a16:rowId xmlns:a16="http://schemas.microsoft.com/office/drawing/2014/main" val="10000"/>
                  </a:ext>
                </a:extLst>
              </a:tr>
              <a:tr h="450375">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x</a:t>
                      </a:r>
                      <a:endParaRPr sz="1800"/>
                    </a:p>
                  </a:txBody>
                  <a:tcPr marL="91450" marR="91450" marT="45725" marB="45725"/>
                </a:tc>
                <a:extLst>
                  <a:ext uri="{0D108BD9-81ED-4DB2-BD59-A6C34878D82A}">
                    <a16:rowId xmlns:a16="http://schemas.microsoft.com/office/drawing/2014/main" val="10001"/>
                  </a:ext>
                </a:extLst>
              </a:tr>
              <a:tr h="450375">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y</a:t>
                      </a:r>
                      <a:endParaRPr sz="1800"/>
                    </a:p>
                  </a:txBody>
                  <a:tcPr marL="91450" marR="91450" marT="45725" marB="45725"/>
                </a:tc>
                <a:extLst>
                  <a:ext uri="{0D108BD9-81ED-4DB2-BD59-A6C34878D82A}">
                    <a16:rowId xmlns:a16="http://schemas.microsoft.com/office/drawing/2014/main" val="10002"/>
                  </a:ext>
                </a:extLst>
              </a:tr>
              <a:tr h="450375">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z</a:t>
                      </a:r>
                      <a:endParaRPr sz="1800"/>
                    </a:p>
                  </a:txBody>
                  <a:tcPr marL="91450" marR="91450" marT="45725" marB="45725"/>
                </a:tc>
                <a:extLst>
                  <a:ext uri="{0D108BD9-81ED-4DB2-BD59-A6C34878D82A}">
                    <a16:rowId xmlns:a16="http://schemas.microsoft.com/office/drawing/2014/main" val="10003"/>
                  </a:ext>
                </a:extLst>
              </a:tr>
            </a:tbl>
          </a:graphicData>
        </a:graphic>
      </p:graphicFrame>
      <p:cxnSp>
        <p:nvCxnSpPr>
          <p:cNvPr id="822" name="Google Shape;822;p90"/>
          <p:cNvCxnSpPr/>
          <p:nvPr/>
        </p:nvCxnSpPr>
        <p:spPr>
          <a:xfrm rot="10800000" flipH="1">
            <a:off x="3614468" y="2320506"/>
            <a:ext cx="1751162" cy="707366"/>
          </a:xfrm>
          <a:prstGeom prst="straightConnector1">
            <a:avLst/>
          </a:prstGeom>
          <a:noFill/>
          <a:ln w="12700" cap="flat" cmpd="sng">
            <a:solidFill>
              <a:schemeClr val="dk1"/>
            </a:solidFill>
            <a:prstDash val="solid"/>
            <a:miter lim="800000"/>
            <a:headEnd type="none" w="sm" len="sm"/>
            <a:tailEnd type="triangle" w="med" len="med"/>
          </a:ln>
        </p:spPr>
      </p:cxnSp>
      <p:cxnSp>
        <p:nvCxnSpPr>
          <p:cNvPr id="823" name="Google Shape;823;p90"/>
          <p:cNvCxnSpPr/>
          <p:nvPr/>
        </p:nvCxnSpPr>
        <p:spPr>
          <a:xfrm>
            <a:off x="3614468" y="4011283"/>
            <a:ext cx="1814664" cy="828136"/>
          </a:xfrm>
          <a:prstGeom prst="straightConnector1">
            <a:avLst/>
          </a:prstGeom>
          <a:noFill/>
          <a:ln w="12700" cap="flat" cmpd="sng">
            <a:solidFill>
              <a:schemeClr val="dk1"/>
            </a:solidFill>
            <a:prstDash val="solid"/>
            <a:miter lim="800000"/>
            <a:headEnd type="none" w="sm" len="sm"/>
            <a:tailEnd type="triangle" w="med" len="med"/>
          </a:ln>
        </p:spPr>
      </p:cxnSp>
      <p:sp>
        <p:nvSpPr>
          <p:cNvPr id="824" name="Google Shape;824;p90"/>
          <p:cNvSpPr txBox="1"/>
          <p:nvPr/>
        </p:nvSpPr>
        <p:spPr>
          <a:xfrm>
            <a:off x="8022566" y="1338502"/>
            <a:ext cx="3331234"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R(ABC) having FD as B -&gt; C</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Identify the normal form and candidate key for the same?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Apply decomposition.</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91"/>
          <p:cNvSpPr txBox="1">
            <a:spLocks noGrp="1"/>
          </p:cNvSpPr>
          <p:nvPr>
            <p:ph type="title"/>
          </p:nvPr>
        </p:nvSpPr>
        <p:spPr>
          <a:xfrm>
            <a:off x="838200" y="365125"/>
            <a:ext cx="10515600" cy="7908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Practice Set</a:t>
            </a:r>
            <a:endParaRPr sz="3600" b="1">
              <a:latin typeface="Times New Roman"/>
              <a:ea typeface="Times New Roman"/>
              <a:cs typeface="Times New Roman"/>
              <a:sym typeface="Times New Roman"/>
            </a:endParaRPr>
          </a:p>
        </p:txBody>
      </p:sp>
      <p:sp>
        <p:nvSpPr>
          <p:cNvPr id="830" name="Google Shape;830;p91"/>
          <p:cNvSpPr txBox="1"/>
          <p:nvPr/>
        </p:nvSpPr>
        <p:spPr>
          <a:xfrm>
            <a:off x="767751" y="1291087"/>
            <a:ext cx="10586052" cy="5201788"/>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0" marR="0" lvl="0" indent="0" algn="just" rtl="0">
              <a:lnSpc>
                <a:spcPct val="90000"/>
              </a:lnSpc>
              <a:spcBef>
                <a:spcPts val="100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sp>
        <p:nvSpPr>
          <p:cNvPr id="831" name="Google Shape;831;p91"/>
          <p:cNvSpPr txBox="1"/>
          <p:nvPr/>
        </p:nvSpPr>
        <p:spPr>
          <a:xfrm>
            <a:off x="767751" y="1414732"/>
            <a:ext cx="4477109" cy="480131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alibri"/>
              <a:buAutoNum type="arabicPeriod"/>
            </a:pPr>
            <a:r>
              <a:rPr lang="en-US" sz="1800" b="1">
                <a:solidFill>
                  <a:schemeClr val="dk1"/>
                </a:solidFill>
                <a:latin typeface="Calibri"/>
                <a:ea typeface="Calibri"/>
                <a:cs typeface="Calibri"/>
                <a:sym typeface="Calibri"/>
              </a:rPr>
              <a:t>Consider a relation R(ABCDEFGHI) having FDs as: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AB -&gt; 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AD -&gt; GH</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BD -&gt; EF</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 -&gt; I</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H -&gt; J</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Identify that relation is in which normal form and the candidate key by determining the prime and non prime attributes.</a:t>
            </a:r>
            <a:endParaRPr/>
          </a:p>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Apply the decomposition if needed to remove the redundancy. </a:t>
            </a:r>
            <a:endParaRPr/>
          </a:p>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Identify how many new tables will be formed after the decomposition.</a:t>
            </a:r>
            <a:endParaRPr sz="1800">
              <a:solidFill>
                <a:schemeClr val="dk1"/>
              </a:solidFill>
              <a:latin typeface="Calibri"/>
              <a:ea typeface="Calibri"/>
              <a:cs typeface="Calibri"/>
              <a:sym typeface="Calibri"/>
            </a:endParaRPr>
          </a:p>
        </p:txBody>
      </p:sp>
      <p:sp>
        <p:nvSpPr>
          <p:cNvPr id="832" name="Google Shape;832;p91"/>
          <p:cNvSpPr txBox="1"/>
          <p:nvPr/>
        </p:nvSpPr>
        <p:spPr>
          <a:xfrm>
            <a:off x="6553199" y="1414732"/>
            <a:ext cx="4477109"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2. </a:t>
            </a:r>
            <a:r>
              <a:rPr lang="en-US" sz="1800" b="1">
                <a:solidFill>
                  <a:schemeClr val="dk1"/>
                </a:solidFill>
                <a:latin typeface="Calibri"/>
                <a:ea typeface="Calibri"/>
                <a:cs typeface="Calibri"/>
                <a:sym typeface="Calibri"/>
              </a:rPr>
              <a:t>Relation R having attributes as (A, B, C, D, E) having the functional dependencies as follows: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 -&gt; B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B -&gt; 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C -&gt; 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Identify that relation is in which normal form and the candidate key by determining the prime and non prime attributes.</a:t>
            </a:r>
            <a:endParaRPr/>
          </a:p>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Apply the decomposition if needed to remove the redundancy. </a:t>
            </a:r>
            <a:endParaRPr/>
          </a:p>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Identify how many new tables will be formed after the decomposition.</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92"/>
          <p:cNvSpPr txBox="1">
            <a:spLocks noGrp="1"/>
          </p:cNvSpPr>
          <p:nvPr>
            <p:ph type="title"/>
          </p:nvPr>
        </p:nvSpPr>
        <p:spPr>
          <a:xfrm>
            <a:off x="838200" y="365125"/>
            <a:ext cx="10515600" cy="7908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Loss-less Join Decomposition</a:t>
            </a:r>
            <a:endParaRPr sz="3600" b="1">
              <a:latin typeface="Times New Roman"/>
              <a:ea typeface="Times New Roman"/>
              <a:cs typeface="Times New Roman"/>
              <a:sym typeface="Times New Roman"/>
            </a:endParaRPr>
          </a:p>
        </p:txBody>
      </p:sp>
      <p:pic>
        <p:nvPicPr>
          <p:cNvPr id="838" name="Google Shape;838;p92"/>
          <p:cNvPicPr preferRelativeResize="0"/>
          <p:nvPr/>
        </p:nvPicPr>
        <p:blipFill rotWithShape="1">
          <a:blip r:embed="rId3">
            <a:alphaModFix/>
          </a:blip>
          <a:srcRect/>
          <a:stretch/>
        </p:blipFill>
        <p:spPr>
          <a:xfrm>
            <a:off x="838200" y="1388101"/>
            <a:ext cx="5122653" cy="2519665"/>
          </a:xfrm>
          <a:prstGeom prst="rect">
            <a:avLst/>
          </a:prstGeom>
          <a:noFill/>
          <a:ln>
            <a:noFill/>
          </a:ln>
        </p:spPr>
      </p:pic>
      <p:sp>
        <p:nvSpPr>
          <p:cNvPr id="839" name="Google Shape;839;p92"/>
          <p:cNvSpPr txBox="1"/>
          <p:nvPr/>
        </p:nvSpPr>
        <p:spPr>
          <a:xfrm>
            <a:off x="750498" y="4097547"/>
            <a:ext cx="5581291" cy="2031325"/>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Loss-less always doesn’t mean that some tuple or information will be lost. </a:t>
            </a:r>
            <a:endParaRPr/>
          </a:p>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In some cases when we combine the decomposed tables, then some extra tuples or information are also added.</a:t>
            </a:r>
            <a:endParaRPr/>
          </a:p>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This extra tuple that adds up in the resultant relation is known as </a:t>
            </a:r>
            <a:r>
              <a:rPr lang="en-US" sz="1800" b="1">
                <a:solidFill>
                  <a:schemeClr val="dk1"/>
                </a:solidFill>
                <a:latin typeface="Calibri"/>
                <a:ea typeface="Calibri"/>
                <a:cs typeface="Calibri"/>
                <a:sym typeface="Calibri"/>
              </a:rPr>
              <a:t>SPURIOUS TUPLE</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840" name="Google Shape;840;p92"/>
          <p:cNvSpPr txBox="1"/>
          <p:nvPr/>
        </p:nvSpPr>
        <p:spPr>
          <a:xfrm>
            <a:off x="6694098" y="1578634"/>
            <a:ext cx="5029200"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Calibri"/>
                <a:ea typeface="Calibri"/>
                <a:cs typeface="Calibri"/>
                <a:sym typeface="Calibri"/>
              </a:rPr>
              <a:t>Loss-Less Properties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Attributes(R1) U Attributes(R2) = Attributes(R)</a:t>
            </a:r>
            <a:endParaRPr/>
          </a:p>
          <a:p>
            <a:pPr marL="342900" marR="0" lvl="0" indent="-22860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Attributes(R1) </a:t>
            </a:r>
            <a:r>
              <a:rPr lang="en-US" sz="1800" b="0" i="0">
                <a:solidFill>
                  <a:srgbClr val="202124"/>
                </a:solidFill>
                <a:highlight>
                  <a:srgbClr val="FFFFFF"/>
                </a:highlight>
                <a:latin typeface="Arial"/>
                <a:ea typeface="Arial"/>
                <a:cs typeface="Arial"/>
                <a:sym typeface="Arial"/>
              </a:rPr>
              <a:t>∩ Attributes(R2) ≠ Φ</a:t>
            </a:r>
            <a:endParaRPr sz="1800" b="0" i="0">
              <a:solidFill>
                <a:srgbClr val="202124"/>
              </a:solidFill>
              <a:highlight>
                <a:srgbClr val="FFFFFF"/>
              </a:highlight>
              <a:latin typeface="Arial"/>
              <a:ea typeface="Arial"/>
              <a:cs typeface="Arial"/>
              <a:sym typeface="Arial"/>
            </a:endParaRPr>
          </a:p>
          <a:p>
            <a:pPr marL="342900" marR="0" lvl="0" indent="-228600" algn="l" rtl="0">
              <a:spcBef>
                <a:spcPts val="0"/>
              </a:spcBef>
              <a:spcAft>
                <a:spcPts val="0"/>
              </a:spcAft>
              <a:buClr>
                <a:schemeClr val="dk1"/>
              </a:buClr>
              <a:buSzPts val="1800"/>
              <a:buFont typeface="Calibri"/>
              <a:buNone/>
            </a:pPr>
            <a:endParaRPr sz="1800">
              <a:solidFill>
                <a:srgbClr val="202124"/>
              </a:solidFill>
              <a:highlight>
                <a:srgbClr val="FFFFFF"/>
              </a:highlight>
              <a:latin typeface="Arial"/>
              <a:ea typeface="Arial"/>
              <a:cs typeface="Arial"/>
              <a:sym typeface="Arial"/>
            </a:endParaRPr>
          </a:p>
          <a:p>
            <a:pPr marL="342900" marR="0" lvl="0" indent="-342900" algn="l" rtl="0">
              <a:spcBef>
                <a:spcPts val="0"/>
              </a:spcBef>
              <a:spcAft>
                <a:spcPts val="0"/>
              </a:spcAft>
              <a:buClr>
                <a:srgbClr val="202124"/>
              </a:buClr>
              <a:buSzPts val="1800"/>
              <a:buFont typeface="Arial"/>
              <a:buAutoNum type="arabicPeriod"/>
            </a:pPr>
            <a:r>
              <a:rPr lang="en-US" sz="1800">
                <a:solidFill>
                  <a:srgbClr val="202124"/>
                </a:solidFill>
                <a:highlight>
                  <a:srgbClr val="FFFFFF"/>
                </a:highlight>
                <a:latin typeface="Arial"/>
                <a:ea typeface="Arial"/>
                <a:cs typeface="Arial"/>
                <a:sym typeface="Arial"/>
              </a:rPr>
              <a:t>R1 </a:t>
            </a:r>
            <a:r>
              <a:rPr lang="en-US" sz="1800" b="0" i="0">
                <a:solidFill>
                  <a:srgbClr val="202124"/>
                </a:solidFill>
                <a:highlight>
                  <a:srgbClr val="FFFFFF"/>
                </a:highlight>
                <a:latin typeface="Arial"/>
                <a:ea typeface="Arial"/>
                <a:cs typeface="Arial"/>
                <a:sym typeface="Arial"/>
              </a:rPr>
              <a:t>∩ R2 = CK of R1 or CK of R2</a:t>
            </a:r>
            <a:endParaRPr sz="1800">
              <a:solidFill>
                <a:schemeClr val="dk1"/>
              </a:solidFill>
              <a:latin typeface="Calibri"/>
              <a:ea typeface="Calibri"/>
              <a:cs typeface="Calibri"/>
              <a:sym typeface="Calibri"/>
            </a:endParaRPr>
          </a:p>
        </p:txBody>
      </p:sp>
      <p:sp>
        <p:nvSpPr>
          <p:cNvPr id="841" name="Google Shape;841;p92"/>
          <p:cNvSpPr txBox="1"/>
          <p:nvPr/>
        </p:nvSpPr>
        <p:spPr>
          <a:xfrm>
            <a:off x="6694098" y="3907766"/>
            <a:ext cx="454755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any of the condition fails, then it will be considered as Lossy decomposition.</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93"/>
          <p:cNvSpPr txBox="1">
            <a:spLocks noGrp="1"/>
          </p:cNvSpPr>
          <p:nvPr>
            <p:ph type="title"/>
          </p:nvPr>
        </p:nvSpPr>
        <p:spPr>
          <a:xfrm>
            <a:off x="838200" y="365125"/>
            <a:ext cx="10515600" cy="7908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a:t>
            </a:r>
            <a:endParaRPr sz="3600" b="1">
              <a:latin typeface="Times New Roman"/>
              <a:ea typeface="Times New Roman"/>
              <a:cs typeface="Times New Roman"/>
              <a:sym typeface="Times New Roman"/>
            </a:endParaRPr>
          </a:p>
        </p:txBody>
      </p:sp>
      <p:sp>
        <p:nvSpPr>
          <p:cNvPr id="847" name="Google Shape;847;p93"/>
          <p:cNvSpPr txBox="1"/>
          <p:nvPr/>
        </p:nvSpPr>
        <p:spPr>
          <a:xfrm>
            <a:off x="767751" y="1291087"/>
            <a:ext cx="10586052" cy="5201788"/>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1. Raj faces a problem in resolving the decomposition issue with the relation R having attributes as (A,B,C,D,E,F,G,H,I,J) having functional dependencies set as:</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AB -&gt; C</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B -&gt; F</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F -&gt; GH	</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D -&gt; IJ</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A -&gt; DE</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The task here is to determine the highest normal form of relation R by determining the prime and non-prime fields. </a:t>
            </a:r>
            <a:endParaRPr/>
          </a:p>
          <a:p>
            <a:pPr marL="0" marR="0" lvl="0" indent="0" algn="just" rtl="0">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Check if relation is in 3NF or not. If not then, remove the redundancy and decompose the relation. Also, identify the possible number of relations after the decomposition and check if the decomposition is lossy or loss-less.</a:t>
            </a:r>
            <a:endParaRPr/>
          </a:p>
          <a:p>
            <a:pPr marL="0" marR="0" lvl="0" indent="0" algn="just" rtl="0">
              <a:lnSpc>
                <a:spcPct val="90000"/>
              </a:lnSpc>
              <a:spcBef>
                <a:spcPts val="100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2278</TotalTime>
  <Words>2149</Words>
  <Application>Microsoft Office PowerPoint</Application>
  <PresentationFormat>Widescreen</PresentationFormat>
  <Paragraphs>306</Paragraphs>
  <Slides>34</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Times New Roman</vt:lpstr>
      <vt:lpstr>Wingdings</vt:lpstr>
      <vt:lpstr>Office Theme</vt:lpstr>
      <vt:lpstr>Database Normalization</vt:lpstr>
      <vt:lpstr>Functional Dependency</vt:lpstr>
      <vt:lpstr>Practice Q/A</vt:lpstr>
      <vt:lpstr>Closure of Functional Dependencies</vt:lpstr>
      <vt:lpstr>PowerPoint Presentation</vt:lpstr>
      <vt:lpstr>Problem Statements</vt:lpstr>
      <vt:lpstr>Canonical Cover</vt:lpstr>
      <vt:lpstr>Problem Statement</vt:lpstr>
      <vt:lpstr>Problem Statement</vt:lpstr>
      <vt:lpstr>Normalization</vt:lpstr>
      <vt:lpstr>Data Anomalies</vt:lpstr>
      <vt:lpstr>Normalization</vt:lpstr>
      <vt:lpstr>PowerPoint Presentation</vt:lpstr>
      <vt:lpstr>PowerPoint Presentation</vt:lpstr>
      <vt:lpstr>1NF</vt:lpstr>
      <vt:lpstr>1NF - Decomposition</vt:lpstr>
      <vt:lpstr>PowerPoint Presentation</vt:lpstr>
      <vt:lpstr>2-NF</vt:lpstr>
      <vt:lpstr>2-NF -  Decomposition</vt:lpstr>
      <vt:lpstr>PowerPoint Presentation</vt:lpstr>
      <vt:lpstr>3-NF</vt:lpstr>
      <vt:lpstr>3-NF - Decomposition</vt:lpstr>
      <vt:lpstr>PowerPoint Presentation</vt:lpstr>
      <vt:lpstr>BCNF</vt:lpstr>
      <vt:lpstr>BCNF - Decomposition</vt:lpstr>
      <vt:lpstr>Normalization</vt:lpstr>
      <vt:lpstr>Practice Set</vt:lpstr>
      <vt:lpstr>Problem Statement</vt:lpstr>
      <vt:lpstr>Problem Statement</vt:lpstr>
      <vt:lpstr>Problem Statement</vt:lpstr>
      <vt:lpstr>Decomposition of Tables</vt:lpstr>
      <vt:lpstr>Practice Set</vt:lpstr>
      <vt:lpstr>Loss-less Join Decomposition</vt:lpstr>
      <vt:lpstr>Problem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7</cp:revision>
  <dcterms:created xsi:type="dcterms:W3CDTF">2025-06-22T06:30:27Z</dcterms:created>
  <dcterms:modified xsi:type="dcterms:W3CDTF">2026-08-30T13:57:49Z</dcterms:modified>
</cp:coreProperties>
</file>