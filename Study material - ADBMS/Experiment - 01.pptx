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1183-593A-18A1-D044-7E3B74F34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8F551-CDC8-FC40-F486-2753D45A5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2B965-8380-A2E2-A851-5ABC9D0E2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DC1EF-FA66-4608-F70A-B1C3CD26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F43B-DEB2-644D-F38A-67D31982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315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3076-88AA-D731-7060-2E46CF34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E2DB-A447-92F9-3D97-C32CB6F06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AED06-780F-8576-9394-CE7E76DC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730C5-21FB-95C3-D9AC-0BBCDBDBF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4EA19-E0EA-A45D-EAF5-21EC40E47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14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6DF38-CA82-D8EA-42BA-1DF64A74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9AB0F-92AC-DEF3-D01F-F8C3CAB4E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2063-E54C-9F96-FCA0-6C8EE5209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C46EF-37AA-E2C7-0D3B-5AB16FF1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C03EB-8ADD-E4C6-0BED-D07885A5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29F0-7D19-B5A7-1771-3EDA0105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F4B63-F327-AF95-83F5-FE05E25F4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3C687-85B1-25FB-FC2F-89A972679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B786C-A582-C132-162D-148C9882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32799-BCE6-9320-A2DC-43492FBB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0C291-37E0-ED43-F806-0E77D9C8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16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EF40-0A0E-53D9-47B1-F840B813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F664A-1525-4372-4F3E-ECFFB50B1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03ECB-5625-1B65-C4FB-85F2A4C04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10A5A-36C4-58B5-95DA-39CDFBBAF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1E254C-D04A-0241-0F5D-9A88E580C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1EF24-E945-BD68-970D-817419C2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DE001-5D39-755C-D112-84B38564F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34405-4C90-3EC5-CF49-F1B64A92A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89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FF503-D157-D650-9CD5-03986B83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A77AA-E6BB-BD7D-87C0-3981D28D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099E4-81E7-F819-D205-189E67A4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0EF4F8-7080-4D82-6A1D-34BCA8059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52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6E44D-C800-EFFC-C26C-32C343626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70D34-991D-D9EB-A773-D2CAE0F4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031DC-5229-6B6E-15AC-AD02984AD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47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9096-B6B4-E2B9-4ED1-B5E1F9478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922CA-E895-397A-C207-F1B80A1AB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D30F0-05E4-620C-4A8F-3B4B5B7A5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7811F-788A-D083-B044-35D61CEA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71CB29-1E5C-AF21-D11A-F20429AA7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EDB07-5FA2-954F-0ECE-A084B3C1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6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7301-E9FD-7E83-9306-698804140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39C04A-1317-9D9C-CEA1-3CD26626F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8ADF0-2EBA-7CBD-6E40-8942E20F6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C83A5-E974-3383-7CFD-E0EF9007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29769-F11D-1FF4-921F-564490CA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0111D-8D3D-ED1A-5BC8-087A1144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36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9739-B8A4-593B-76CA-3C01F12E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6BB4A-B37E-4162-34CB-0E42E405E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E7978-28EB-85BA-56D6-13EEC9B10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92C7-3E84-B002-1D1B-6E594988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05B52-EBB4-57AB-485B-0FCAE4636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00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CE8BDD-3F2D-5DC6-1C13-DFF318638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FF9DD-F342-0572-D14B-858442D9E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01B7F-83CC-2875-70B7-8C35251A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35052-B088-853E-2F31-CDD02ADB5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EC68D-ED57-D341-EA18-CE0E3C7DF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14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CD144-3E85-E53B-EDAF-7E362738D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24753-ED17-E844-7A0C-789D8D76A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40CC6-9C31-2A5F-238C-99640BA7D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9C69C-9A21-49EE-92B1-16C780FF21E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B29B6-9CCF-A3FF-1789-713009C409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4DF7E-BB4A-3F2B-5CF5-8BD578B09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9F836-1363-4E69-8600-90FC548E9A07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312941-D1D7-5886-EECE-D56636FA378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7493"/>
            <a:ext cx="11839074" cy="54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95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8F8-47B1-A255-E94E-043BE8FD5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Advance Database Management System (ADBMS)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FDFD9-C735-505F-C5EE-8433EE2B2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Sub-Code: </a:t>
            </a:r>
            <a:r>
              <a:rPr lang="en-IN" b="1" dirty="0"/>
              <a:t>24-CSP-310, 24-CSP-333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0745F-6CEA-6957-F4E8-8504D481BDDA}"/>
              </a:ext>
            </a:extLst>
          </p:cNvPr>
          <p:cNvSpPr txBox="1"/>
          <p:nvPr/>
        </p:nvSpPr>
        <p:spPr>
          <a:xfrm>
            <a:off x="2385883" y="6092518"/>
            <a:ext cx="7735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ALOK KUMAR – ASSISTANT PROFESSOR &amp; KARGIL TECHINCAL TRAINER (DCPD) </a:t>
            </a:r>
            <a:br>
              <a:rPr lang="en-US" dirty="0"/>
            </a:br>
            <a:r>
              <a:rPr lang="en-US" dirty="0"/>
              <a:t>EMAIL: DCPD.KARGILT1@CUMAIL.IN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056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2E02-FD62-B598-1BBF-37998141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7516"/>
            <a:ext cx="10515600" cy="5293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Experiment 01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F7805-7B8A-1B77-E12E-CA73E3E3AACF}"/>
              </a:ext>
            </a:extLst>
          </p:cNvPr>
          <p:cNvSpPr txBox="1"/>
          <p:nvPr/>
        </p:nvSpPr>
        <p:spPr>
          <a:xfrm>
            <a:off x="838200" y="1327621"/>
            <a:ext cx="10920663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(A)</a:t>
            </a:r>
            <a:endParaRPr lang="en-IN" b="0" dirty="0">
              <a:effectLst/>
            </a:endParaRPr>
          </a:p>
          <a:p>
            <a:pPr rtl="0">
              <a:spcAft>
                <a:spcPts val="800"/>
              </a:spcAft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Write an SQL solution to calculate the total number of bank accounts belonging to each salary category. The classification categories are:</a:t>
            </a:r>
            <a:endParaRPr lang="en-IN" b="0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"Low Salary"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All monthly salaries strictly less than $20,000.</a:t>
            </a:r>
            <a:endParaRPr lang="en-IN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"Average Salary"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All monthly salaries in the inclusive range [$20,000, $50,000].</a:t>
            </a:r>
            <a:endParaRPr lang="en-IN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"High Salary"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All monthly salaries strictly greater than $50,000. The final result table must report all three categories, even if a category contains zero accounts.</a:t>
            </a:r>
            <a:endParaRPr lang="en-IN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1C5D0-98B3-C3F5-CBDC-8590D6B62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533" y="4206541"/>
            <a:ext cx="368617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96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6E7C-D0C7-84C9-32A7-4E87FA6D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904CE-4D1F-4C37-8191-AC4D59E0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7516"/>
            <a:ext cx="10515600" cy="5293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Experiment 01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31B8F-E982-7AAE-8129-9EEA4681C063}"/>
              </a:ext>
            </a:extLst>
          </p:cNvPr>
          <p:cNvSpPr txBox="1"/>
          <p:nvPr/>
        </p:nvSpPr>
        <p:spPr>
          <a:xfrm>
            <a:off x="838200" y="1520126"/>
            <a:ext cx="10860505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(B)</a:t>
            </a:r>
            <a:endParaRPr lang="en-IN" b="0" dirty="0">
              <a:effectLst/>
            </a:endParaRPr>
          </a:p>
          <a:p>
            <a:pPr rtl="0">
              <a:spcAft>
                <a:spcPts val="800"/>
              </a:spcAft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Design an Employee Management System database architecture by implementing the following operations sequentially:</a:t>
            </a:r>
            <a:endParaRPr lang="en-IN" b="0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Create and populate structural tracking tables for Departments, Employees, and Salaries.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Query the system using multi-table Joins to pull clear department breakdowns, apply a 10% salary enhancement across all members of the HR department, and delete any individual salary record dropping strictly below $30,000.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 all remaining active employees whose personal salary exceeds the overall company-wide average salary.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AB53D-7FDD-A6BE-C4A9-6986310C1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26" y="4033587"/>
            <a:ext cx="28956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8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9310-48E1-0B7C-2FEA-70F52140B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202B-0056-5B07-4010-9219076E4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7516"/>
            <a:ext cx="10515600" cy="5293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Experiment 01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FDF24-5853-D979-0A3D-5D2A68B3C20F}"/>
              </a:ext>
            </a:extLst>
          </p:cNvPr>
          <p:cNvSpPr txBox="1"/>
          <p:nvPr/>
        </p:nvSpPr>
        <p:spPr>
          <a:xfrm>
            <a:off x="838200" y="1520126"/>
            <a:ext cx="10860505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(B)</a:t>
            </a:r>
            <a:endParaRPr lang="en-IN" b="0" dirty="0">
              <a:effectLst/>
            </a:endParaRPr>
          </a:p>
          <a:p>
            <a:pPr rtl="0">
              <a:spcAft>
                <a:spcPts val="800"/>
              </a:spcAft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Design an Employee Management System database architecture by implementing the following operations sequentially:</a:t>
            </a:r>
            <a:endParaRPr lang="en-IN" b="0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Create and populate structural tracking tables for Departments, Employees, and Salaries.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Query the system using multi-table Joins to pull clear department breakdowns, apply a 10% salary enhancement across all members of the HR department, and delete any individual salary record dropping strictly below $30,000.</a:t>
            </a:r>
          </a:p>
          <a:p>
            <a:pPr rtl="0" fontAlgn="base">
              <a:buFont typeface="+mj-lt"/>
              <a:buAutoNum type="arabicPeriod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List all remaining active employees whose personal salary exceeds the overall company-wide average salary.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9D727E-08B3-ADDF-E5B1-DDBD94B6D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3" y="4169856"/>
            <a:ext cx="4636168" cy="24074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30572-467D-BA7B-7DFE-95D28459E4AE}"/>
              </a:ext>
            </a:extLst>
          </p:cNvPr>
          <p:cNvSpPr txBox="1"/>
          <p:nvPr/>
        </p:nvSpPr>
        <p:spPr>
          <a:xfrm>
            <a:off x="5209676" y="3756636"/>
            <a:ext cx="60960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Part B: Apply 10% HR increase using IN subquery filtering</a:t>
            </a:r>
            <a:endParaRPr lang="en-IN" b="0" dirty="0">
              <a:effectLst/>
            </a:endParaRP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9F6832-8143-1E2D-E29E-38F781045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327" y="4186488"/>
            <a:ext cx="4838698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72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3AA7-AA5C-DB02-31C8-2B65A71D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E1A5-8DC0-C4FB-4C0E-E4A4705A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7516"/>
            <a:ext cx="10515600" cy="5293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Experiment 01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E1664-F252-3D75-12D2-CB719297E6F4}"/>
              </a:ext>
            </a:extLst>
          </p:cNvPr>
          <p:cNvSpPr txBox="1"/>
          <p:nvPr/>
        </p:nvSpPr>
        <p:spPr>
          <a:xfrm>
            <a:off x="419100" y="1541296"/>
            <a:ext cx="11353800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n-IN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(C)</a:t>
            </a:r>
            <a:endParaRPr lang="en-IN" sz="1600" b="0" dirty="0">
              <a:effectLst/>
            </a:endParaRPr>
          </a:p>
          <a:p>
            <a:r>
              <a:rPr lang="en-IN" sz="1600" dirty="0"/>
              <a:t>A pizza restaurant stores all the available pizza toppings and their ingredient costs in a table called </a:t>
            </a:r>
            <a:r>
              <a:rPr lang="en-IN" sz="1600" dirty="0" err="1"/>
              <a:t>pizza_toppings</a:t>
            </a:r>
            <a:r>
              <a:rPr lang="en-IN" sz="1600" dirty="0"/>
              <a:t>.</a:t>
            </a:r>
          </a:p>
          <a:p>
            <a:r>
              <a:rPr lang="en-IN" sz="1600" dirty="0"/>
              <a:t>Every customer must choose </a:t>
            </a:r>
            <a:r>
              <a:rPr lang="en-IN" sz="1600" b="1" dirty="0"/>
              <a:t>exactly 3 different toppings</a:t>
            </a:r>
            <a:r>
              <a:rPr lang="en-IN" sz="1600" dirty="0"/>
              <a:t> to prepare a pizza.</a:t>
            </a:r>
          </a:p>
          <a:p>
            <a:r>
              <a:rPr lang="en-IN" sz="1600" dirty="0"/>
              <a:t>Write a PostgreSQL query to generate </a:t>
            </a:r>
            <a:r>
              <a:rPr lang="en-IN" sz="1600" b="1" dirty="0"/>
              <a:t>every possible 3-topping pizza combination</a:t>
            </a:r>
            <a:r>
              <a:rPr lang="en-IN" sz="1600" dirty="0"/>
              <a:t> along with its </a:t>
            </a:r>
            <a:r>
              <a:rPr lang="en-IN" sz="1600" b="1" dirty="0"/>
              <a:t>total ingredient cost</a:t>
            </a:r>
            <a:r>
              <a:rPr lang="en-IN" sz="1600" dirty="0"/>
              <a:t>.</a:t>
            </a:r>
          </a:p>
          <a:p>
            <a:r>
              <a:rPr lang="en-IN" sz="1600" b="1" dirty="0"/>
              <a:t>Requirements</a:t>
            </a:r>
          </a:p>
          <a:p>
            <a:r>
              <a:rPr lang="en-IN" sz="1600" dirty="0"/>
              <a:t>Every pizza must contain </a:t>
            </a:r>
            <a:r>
              <a:rPr lang="en-IN" sz="1600" b="1" dirty="0"/>
              <a:t>exactly 3 different toppings</a:t>
            </a:r>
            <a:r>
              <a:rPr lang="en-IN" sz="1600" dirty="0"/>
              <a:t>. </a:t>
            </a:r>
          </a:p>
          <a:p>
            <a:r>
              <a:rPr lang="en-IN" sz="1600" dirty="0"/>
              <a:t>The same topping </a:t>
            </a:r>
            <a:r>
              <a:rPr lang="en-IN" sz="1600" b="1" dirty="0"/>
              <a:t>cannot appear more than once</a:t>
            </a:r>
            <a:r>
              <a:rPr lang="en-IN" sz="1600" dirty="0"/>
              <a:t> in a pizza. </a:t>
            </a:r>
          </a:p>
          <a:p>
            <a:r>
              <a:rPr lang="en-IN" sz="1600" dirty="0"/>
              <a:t>Different arrangements of the same toppings should be considered the </a:t>
            </a:r>
            <a:r>
              <a:rPr lang="en-IN" sz="1600" b="1" dirty="0"/>
              <a:t>same pizza</a:t>
            </a:r>
            <a:r>
              <a:rPr lang="en-IN" sz="1600" dirty="0"/>
              <a:t>. </a:t>
            </a:r>
          </a:p>
          <a:p>
            <a:pPr lvl="1"/>
            <a:r>
              <a:rPr lang="en-IN" sz="1600" dirty="0"/>
              <a:t>Example: </a:t>
            </a:r>
          </a:p>
          <a:p>
            <a:pPr lvl="2"/>
            <a:r>
              <a:rPr lang="en-IN" sz="1600" dirty="0"/>
              <a:t>Chicken, Pepperoni, Sausage </a:t>
            </a:r>
          </a:p>
          <a:p>
            <a:pPr lvl="2"/>
            <a:r>
              <a:rPr lang="en-IN" sz="1600" dirty="0"/>
              <a:t>Pepperoni, Chicken, Sausage </a:t>
            </a:r>
          </a:p>
          <a:p>
            <a:pPr lvl="2"/>
            <a:r>
              <a:rPr lang="en-IN" sz="1600" dirty="0"/>
              <a:t>Sausage, Chicken, Pepperoni </a:t>
            </a:r>
          </a:p>
          <a:p>
            <a:pPr lvl="1"/>
            <a:r>
              <a:rPr lang="en-IN" sz="1600" dirty="0"/>
              <a:t>These are all the same pizza, so only </a:t>
            </a:r>
            <a:r>
              <a:rPr lang="en-IN" sz="1600" b="1" dirty="0"/>
              <a:t>one</a:t>
            </a:r>
            <a:r>
              <a:rPr lang="en-IN" sz="1600" dirty="0"/>
              <a:t> should appear. </a:t>
            </a:r>
          </a:p>
          <a:p>
            <a:r>
              <a:rPr lang="en-IN" sz="1600" dirty="0"/>
              <a:t>Display the topping names separated by commas. </a:t>
            </a:r>
          </a:p>
          <a:p>
            <a:r>
              <a:rPr lang="en-IN" sz="1600" dirty="0"/>
              <a:t>Display the total ingredient cost of each pizza. </a:t>
            </a:r>
          </a:p>
          <a:p>
            <a:r>
              <a:rPr lang="en-IN" sz="1600" dirty="0"/>
              <a:t>Sort the output: </a:t>
            </a:r>
          </a:p>
          <a:p>
            <a:pPr lvl="1"/>
            <a:r>
              <a:rPr lang="en-IN" sz="1600" dirty="0"/>
              <a:t>First by </a:t>
            </a:r>
            <a:r>
              <a:rPr lang="en-IN" sz="1600" b="1" dirty="0"/>
              <a:t>highest total cost</a:t>
            </a:r>
            <a:r>
              <a:rPr lang="en-IN" sz="1600" dirty="0"/>
              <a:t> </a:t>
            </a:r>
          </a:p>
          <a:p>
            <a:pPr lvl="1"/>
            <a:r>
              <a:rPr lang="en-IN" sz="1600" dirty="0"/>
              <a:t>If two pizzas have the same cost, sort them alphabetically.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9F689-BCAB-99D4-5B03-5D1078A545D5}"/>
              </a:ext>
            </a:extLst>
          </p:cNvPr>
          <p:cNvSpPr txBox="1"/>
          <p:nvPr/>
        </p:nvSpPr>
        <p:spPr>
          <a:xfrm>
            <a:off x="10261854" y="657545"/>
            <a:ext cx="1159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(Amazon)</a:t>
            </a:r>
            <a:endParaRPr lang="en-IN" sz="1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111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F7A7F2-4573-0A02-8529-F6E8883C7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73" y="918160"/>
            <a:ext cx="4077453" cy="502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58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9C564-6061-5D59-B6F4-745EF6B6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14B8-4B34-D197-99D3-6CF1E31DE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7516"/>
            <a:ext cx="10515600" cy="52939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Experiment 01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906DA-BA89-55AC-C849-D84168CEE4D2}"/>
              </a:ext>
            </a:extLst>
          </p:cNvPr>
          <p:cNvSpPr txBox="1"/>
          <p:nvPr/>
        </p:nvSpPr>
        <p:spPr>
          <a:xfrm>
            <a:off x="737616" y="1199067"/>
            <a:ext cx="105156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(D)</a:t>
            </a:r>
            <a:endParaRPr lang="en-IN" dirty="0"/>
          </a:p>
          <a:p>
            <a:r>
              <a:rPr lang="en-IN" dirty="0"/>
              <a:t>Amazon wants to identify </a:t>
            </a:r>
            <a:r>
              <a:rPr lang="en-IN" b="1" dirty="0"/>
              <a:t>returning customers</a:t>
            </a:r>
            <a:r>
              <a:rPr lang="en-IN" dirty="0"/>
              <a:t> who made another purchase shortly after their first purchase.</a:t>
            </a:r>
          </a:p>
          <a:p>
            <a:r>
              <a:rPr lang="en-IN" dirty="0"/>
              <a:t>Write a PostgreSQL query to find all users who made </a:t>
            </a:r>
            <a:r>
              <a:rPr lang="en-IN" b="1" dirty="0"/>
              <a:t>another purchase within 1 to 7 days</a:t>
            </a:r>
            <a:r>
              <a:rPr lang="en-IN" dirty="0"/>
              <a:t> of an earlier purchase.</a:t>
            </a:r>
          </a:p>
          <a:p>
            <a:r>
              <a:rPr lang="en-IN" b="1" dirty="0"/>
              <a:t>Requirements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Compare purchases </a:t>
            </a:r>
            <a:r>
              <a:rPr lang="en-IN" b="1" dirty="0"/>
              <a:t>made by the same user only</a:t>
            </a:r>
            <a:r>
              <a:rPr lang="en-IN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Ignore comparisons where the same transaction is matched with itself.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second purchase must occur </a:t>
            </a:r>
            <a:r>
              <a:rPr lang="en-IN" b="1" dirty="0"/>
              <a:t>after</a:t>
            </a:r>
            <a:r>
              <a:rPr lang="en-IN" dirty="0"/>
              <a:t> the first purchase.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Same-day purchases must </a:t>
            </a:r>
            <a:r>
              <a:rPr lang="en-IN" b="1" dirty="0"/>
              <a:t>not</a:t>
            </a:r>
            <a:r>
              <a:rPr lang="en-IN" dirty="0"/>
              <a:t> be considered.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second purchase must occur within </a:t>
            </a:r>
            <a:r>
              <a:rPr lang="en-IN" b="1" dirty="0"/>
              <a:t>7 days</a:t>
            </a:r>
            <a:r>
              <a:rPr lang="en-IN" dirty="0"/>
              <a:t> of the first purchase.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Display only the </a:t>
            </a:r>
            <a:r>
              <a:rPr lang="en-IN" b="1" dirty="0"/>
              <a:t>unique User IDs</a:t>
            </a:r>
            <a:r>
              <a:rPr lang="en-IN" dirty="0"/>
              <a:t> that satisfy the above conditions.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Sort the output in ascending order of </a:t>
            </a:r>
            <a:r>
              <a:rPr lang="en-IN" dirty="0" err="1"/>
              <a:t>user_id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8DCAFD-DCEC-2105-E5D1-89D61A754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76" y="4370832"/>
            <a:ext cx="4365709" cy="20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3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6239</TotalTime>
  <Words>589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Advance Database Management System (ADBMS)</vt:lpstr>
      <vt:lpstr>Experiment 01</vt:lpstr>
      <vt:lpstr>Experiment 01</vt:lpstr>
      <vt:lpstr>Experiment 01</vt:lpstr>
      <vt:lpstr>Experiment 01</vt:lpstr>
      <vt:lpstr>PowerPoint Presentation</vt:lpstr>
      <vt:lpstr>Experiment 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Singh Rathore</dc:creator>
  <cp:lastModifiedBy>Alok Singh Rathore</cp:lastModifiedBy>
  <cp:revision>10</cp:revision>
  <dcterms:created xsi:type="dcterms:W3CDTF">2026-06-21T07:35:05Z</dcterms:created>
  <dcterms:modified xsi:type="dcterms:W3CDTF">2026-07-09T16:25:30Z</dcterms:modified>
</cp:coreProperties>
</file>